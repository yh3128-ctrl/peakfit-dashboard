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image" Target="../media/image-23-15.png"/><Relationship Id="rId16" Type="http://schemas.openxmlformats.org/officeDocument/2006/relationships/image" Target="../media/image-23-16.png"/><Relationship Id="rId17" Type="http://schemas.openxmlformats.org/officeDocument/2006/relationships/image" Target="../media/image-23-17.png"/><Relationship Id="rId18" Type="http://schemas.openxmlformats.org/officeDocument/2006/relationships/image" Target="../media/image-23-18.png"/><Relationship Id="rId19" Type="http://schemas.openxmlformats.org/officeDocument/2006/relationships/image" Target="../media/image-23-19.png"/><Relationship Id="rId20" Type="http://schemas.openxmlformats.org/officeDocument/2006/relationships/image" Target="../media/image-23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25305" y="-1429207"/>
            <a:ext cx="4286707" cy="4286707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52805" y="5238598"/>
            <a:ext cx="2381098" cy="2381098"/>
          </a:xfrm>
          <a:prstGeom prst="ellipse">
            <a:avLst/>
          </a:prstGeom>
          <a:solidFill>
            <a:srgbClr val="A7F3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5715000" y="3666744"/>
            <a:ext cx="761695" cy="57607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90895" y="1410005"/>
            <a:ext cx="609905" cy="6099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33195" y="2286000"/>
            <a:ext cx="95253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-120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PeakFit </a:t>
            </a:r>
            <a:pPr algn="ctr" indent="0" marL="0">
              <a:buNone/>
            </a:pPr>
            <a:r>
              <a:rPr lang="en-US" sz="6000" b="1" spc="-120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pPr algn="ctr" indent="0" marL="0">
              <a:buNone/>
            </a:pPr>
            <a:r>
              <a:rPr lang="en-US" sz="6000" b="1" spc="-120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피크핏</a:t>
            </a:r>
            <a:endParaRPr lang="en-US" sz="6000" dirty="0"/>
          </a:p>
        </p:txBody>
      </p:sp>
      <p:sp>
        <p:nvSpPr>
          <p:cNvPr id="9" name="Text 5"/>
          <p:cNvSpPr txBox="1"/>
          <p:nvPr/>
        </p:nvSpPr>
        <p:spPr>
          <a:xfrm>
            <a:off x="1333195" y="4048049"/>
            <a:ext cx="95253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-24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등산 입문자를 위한 난도별 국내 등산코스 추천 대시보드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1333195" y="4667098"/>
            <a:ext cx="9525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컨디션에 맞는 안전한 첫 산행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333195" y="6286500"/>
            <a:ext cx="9525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7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발표자 / 레이크뷰 | 2026. 04. 28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10598" y="-761695"/>
            <a:ext cx="2381098" cy="2381098"/>
          </a:xfrm>
          <a:prstGeom prst="ellipse">
            <a:avLst/>
          </a:prstGeom>
          <a:solidFill>
            <a:srgbClr val="D1FAE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083" b="-2083"/>
          <a:stretch/>
        </p:blipFill>
        <p:spPr>
          <a:xfrm>
            <a:off x="8429854" y="1143000"/>
            <a:ext cx="9144" cy="4572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1695" y="2667305"/>
            <a:ext cx="2667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3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AGENDA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3029407"/>
            <a:ext cx="26673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4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761695" y="4190695"/>
            <a:ext cx="571500" cy="5760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0" y="1143000"/>
            <a:ext cx="4288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5191049" y="1185977"/>
            <a:ext cx="112196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171700"/>
            <a:ext cx="4288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5191049" y="2214677"/>
            <a:ext cx="136611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소개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200400"/>
            <a:ext cx="4288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5191049" y="3243377"/>
            <a:ext cx="239024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및 지표 설정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4229100"/>
            <a:ext cx="4288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5191049" y="4272077"/>
            <a:ext cx="112196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8858707" y="1143000"/>
            <a:ext cx="4288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200" dirty="0"/>
          </a:p>
        </p:txBody>
      </p:sp>
      <p:sp>
        <p:nvSpPr>
          <p:cNvPr id="19" name="Text 15"/>
          <p:cNvSpPr txBox="1"/>
          <p:nvPr/>
        </p:nvSpPr>
        <p:spPr>
          <a:xfrm>
            <a:off x="9477756" y="1185977"/>
            <a:ext cx="160934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 화면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8858707" y="2171700"/>
            <a:ext cx="4288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9477756" y="2214677"/>
            <a:ext cx="199887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및 액션플랜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8858707" y="3200400"/>
            <a:ext cx="4288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9477756" y="3243377"/>
            <a:ext cx="4956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Q&amp;A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29207" y="-1429207"/>
            <a:ext cx="3810305" cy="381030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01707" y="4572000"/>
            <a:ext cx="2857500" cy="28575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33195" y="1714500"/>
            <a:ext cx="9525305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0" b="1" spc="-150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75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3143707"/>
            <a:ext cx="95253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-96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  <a:endParaRPr lang="en-US" sz="4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84" b="-384"/>
          <a:stretch/>
        </p:blipFill>
        <p:spPr>
          <a:xfrm>
            <a:off x="5619902" y="4381805"/>
            <a:ext cx="952805" cy="576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33195" y="4858207"/>
            <a:ext cx="9525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spc="-24" kern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‘입문자 맞춤 추천’인가?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01707" y="-1429207"/>
            <a:ext cx="3810305" cy="3810305"/>
          </a:xfrm>
          <a:prstGeom prst="ellipse">
            <a:avLst/>
          </a:prstGeom>
          <a:solidFill>
            <a:srgbClr val="D1FAE5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52805" y="5715000"/>
            <a:ext cx="2381098" cy="2381098"/>
          </a:xfrm>
          <a:prstGeom prst="ellipse">
            <a:avLst/>
          </a:prstGeom>
          <a:solidFill>
            <a:srgbClr val="ECFDF5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2095805"/>
            <a:ext cx="3353105" cy="2115007"/>
          </a:xfrm>
          <a:prstGeom prst="roundRect">
            <a:avLst>
              <a:gd name="adj" fmla="val 62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1805" y="2095805"/>
            <a:ext cx="3448202" cy="2115007"/>
          </a:xfrm>
          <a:prstGeom prst="roundRect">
            <a:avLst>
              <a:gd name="adj" fmla="val 62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96098" y="2095805"/>
            <a:ext cx="3353105" cy="2115007"/>
          </a:xfrm>
          <a:prstGeom prst="roundRect">
            <a:avLst>
              <a:gd name="adj" fmla="val 62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1695" y="4572000"/>
            <a:ext cx="10744200" cy="17145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61695" y="571500"/>
            <a:ext cx="5715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| 문제 정의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1047902"/>
            <a:ext cx="106683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등산인가? </a:t>
            </a:r>
            <a:pPr algn="l" indent="0" marL="0">
              <a:buNone/>
            </a:pPr>
            <a:r>
              <a:rPr lang="en-US" sz="3600" b="1" spc="-72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트렌드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1047902" y="2381098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66774" y="2533802"/>
            <a:ext cx="333756" cy="2670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47902" y="3143707"/>
            <a:ext cx="27624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73%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1047902" y="3585362"/>
            <a:ext cx="27624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1회 이상 등산·숲길체험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(산림청, 수요 증가)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667098" y="2381098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85970" y="2533802"/>
            <a:ext cx="333756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67098" y="3143707"/>
            <a:ext cx="2857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3위 (17.1%)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4667098" y="3585362"/>
            <a:ext cx="2857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생활체육 종목 순위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전년대비 +5.0%p 증가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382305" y="2381098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34095" y="2533802"/>
            <a:ext cx="267005" cy="2670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382305" y="3143707"/>
            <a:ext cx="276240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43% · 쉬움 42%</a:t>
            </a:r>
            <a:endParaRPr lang="en-US" sz="2400" dirty="0"/>
          </a:p>
        </p:txBody>
      </p:sp>
      <p:sp>
        <p:nvSpPr>
          <p:cNvPr id="23" name="Text 17"/>
          <p:cNvSpPr txBox="1"/>
          <p:nvPr/>
        </p:nvSpPr>
        <p:spPr>
          <a:xfrm>
            <a:off x="8382305" y="3889858"/>
            <a:ext cx="27624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이용자 핵심 니즈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(산림청 설문)</a:t>
            </a:r>
            <a:endParaRPr lang="en-US" sz="13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238098" y="5238598"/>
            <a:ext cx="381305" cy="3813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904695" y="4858207"/>
            <a:ext cx="90489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 요약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1904695" y="5266944"/>
            <a:ext cx="90489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등산 수요는 꾸준히 증가하고 있으나, 정보가 여러 곳(산림청, 국립공원, 기상청, 관광지 등)에 </a:t>
            </a:r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산재되어 있어 입문자가 자신의 수준에 맞는 안전한 코스를 스스로 판단하기 어렵습니다.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01707" y="-1429207"/>
            <a:ext cx="3810305" cy="3810305"/>
          </a:xfrm>
          <a:prstGeom prst="ellipse">
            <a:avLst/>
          </a:prstGeom>
          <a:solidFill>
            <a:srgbClr val="D1FAE5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52805" y="5238598"/>
            <a:ext cx="2381098" cy="2381098"/>
          </a:xfrm>
          <a:prstGeom prst="ellipse">
            <a:avLst/>
          </a:prstGeom>
          <a:solidFill>
            <a:srgbClr val="ECFDF5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2381098"/>
            <a:ext cx="4401007" cy="828446"/>
          </a:xfrm>
          <a:prstGeom prst="roundRect">
            <a:avLst>
              <a:gd name="adj" fmla="val 40598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1695" y="3381451"/>
            <a:ext cx="4401007" cy="828446"/>
          </a:xfrm>
          <a:prstGeom prst="roundRect">
            <a:avLst>
              <a:gd name="adj" fmla="val 40598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1695" y="4381805"/>
            <a:ext cx="4401007" cy="828446"/>
          </a:xfrm>
          <a:prstGeom prst="roundRect">
            <a:avLst>
              <a:gd name="adj" fmla="val 40598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1695" y="5381244"/>
            <a:ext cx="4401007" cy="828446"/>
          </a:xfrm>
          <a:prstGeom prst="roundRect">
            <a:avLst>
              <a:gd name="adj" fmla="val 40598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87" b="-387"/>
          <a:stretch/>
        </p:blipFill>
        <p:spPr>
          <a:xfrm>
            <a:off x="5333695" y="4000500"/>
            <a:ext cx="1476756" cy="3840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762902" y="3924605"/>
            <a:ext cx="142646" cy="190195"/>
          </a:xfrm>
          <a:prstGeom prst="rect">
            <a:avLst/>
          </a:prstGeom>
          <a:noFill/>
          <a:ln w="1270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7048195" y="2381098"/>
            <a:ext cx="4419295" cy="847649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-1" r="-1" t="0" b="0"/>
          <a:stretch/>
        </p:blipFill>
        <p:spPr>
          <a:xfrm>
            <a:off x="7048195" y="3381451"/>
            <a:ext cx="4419295" cy="847649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-1" r="-1" t="0" b="0"/>
          <a:stretch/>
        </p:blipFill>
        <p:spPr>
          <a:xfrm>
            <a:off x="7048195" y="4381805"/>
            <a:ext cx="4419295" cy="847649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-1" r="-1" t="0" b="0"/>
          <a:stretch/>
        </p:blipFill>
        <p:spPr>
          <a:xfrm>
            <a:off x="7048195" y="5381244"/>
            <a:ext cx="4419295" cy="847649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61695" y="476402"/>
            <a:ext cx="5715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| 문제 정의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761695" y="857707"/>
            <a:ext cx="10668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PeakFit </a:t>
            </a:r>
            <a:pPr algn="l" indent="0" marL="0">
              <a:buNone/>
            </a:pPr>
            <a:r>
              <a:rPr lang="en-US" sz="3600" b="1" spc="-72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필요성과 차별점</a:t>
            </a:r>
            <a:endParaRPr lang="en-US" sz="3600" dirty="0"/>
          </a:p>
        </p:txBody>
      </p:sp>
      <p:sp>
        <p:nvSpPr>
          <p:cNvPr id="18" name="Text 11"/>
          <p:cNvSpPr txBox="1"/>
          <p:nvPr/>
        </p:nvSpPr>
        <p:spPr>
          <a:xfrm>
            <a:off x="761695" y="1809598"/>
            <a:ext cx="4381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기존의 문제점 (As-Is)</a:t>
            </a:r>
            <a:endParaRPr lang="en-US" sz="1800" dirty="0"/>
          </a:p>
        </p:txBody>
      </p:sp>
      <p:sp>
        <p:nvSpPr>
          <p:cNvPr id="19" name="Shape 12"/>
          <p:cNvSpPr/>
          <p:nvPr/>
        </p:nvSpPr>
        <p:spPr>
          <a:xfrm>
            <a:off x="952805" y="2523744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-133" r="-133" t="0" b="0"/>
          <a:stretch/>
        </p:blipFill>
        <p:spPr>
          <a:xfrm>
            <a:off x="1104595" y="2648102"/>
            <a:ext cx="171907" cy="2286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571854" y="2619756"/>
            <a:ext cx="3333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난도 기준 불일치, 후기의 주관성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952805" y="3524098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-133" r="-133" t="0" b="0"/>
          <a:stretch/>
        </p:blipFill>
        <p:spPr>
          <a:xfrm>
            <a:off x="1104595" y="3648456"/>
            <a:ext cx="171907" cy="2286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571854" y="3619195"/>
            <a:ext cx="3333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날씨/계절 리스크 반영 어려움</a:t>
            </a:r>
            <a:endParaRPr lang="en-US" sz="1500" dirty="0"/>
          </a:p>
        </p:txBody>
      </p:sp>
      <p:sp>
        <p:nvSpPr>
          <p:cNvPr id="25" name="Shape 16"/>
          <p:cNvSpPr/>
          <p:nvPr/>
        </p:nvSpPr>
        <p:spPr>
          <a:xfrm>
            <a:off x="952805" y="4524451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rcRect l="-133" r="-133" t="0" b="0"/>
          <a:stretch/>
        </p:blipFill>
        <p:spPr>
          <a:xfrm>
            <a:off x="1104595" y="4647895"/>
            <a:ext cx="171907" cy="22860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571854" y="4619549"/>
            <a:ext cx="3333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대중교통 · 여행 연계 정보 부재</a:t>
            </a:r>
            <a:endParaRPr lang="en-US" sz="1500" dirty="0"/>
          </a:p>
        </p:txBody>
      </p:sp>
      <p:sp>
        <p:nvSpPr>
          <p:cNvPr id="28" name="Shape 18"/>
          <p:cNvSpPr/>
          <p:nvPr/>
        </p:nvSpPr>
        <p:spPr>
          <a:xfrm>
            <a:off x="952805" y="5524805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rcRect l="-133" r="-133" t="0" b="0"/>
          <a:stretch/>
        </p:blipFill>
        <p:spPr>
          <a:xfrm>
            <a:off x="1104595" y="5648249"/>
            <a:ext cx="171907" cy="22860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1571854" y="5619902"/>
            <a:ext cx="3333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나열식, 설명 없는 추천</a:t>
            </a:r>
            <a:endParaRPr lang="en-US" sz="1500" dirty="0"/>
          </a:p>
        </p:txBody>
      </p:sp>
      <p:sp>
        <p:nvSpPr>
          <p:cNvPr id="31" name="Text 20"/>
          <p:cNvSpPr txBox="1"/>
          <p:nvPr/>
        </p:nvSpPr>
        <p:spPr>
          <a:xfrm>
            <a:off x="7048195" y="1809598"/>
            <a:ext cx="4381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PeakFit의 해결책 (To-Be)</a:t>
            </a:r>
            <a:endParaRPr lang="en-US" sz="1800" dirty="0"/>
          </a:p>
        </p:txBody>
      </p:sp>
      <p:sp>
        <p:nvSpPr>
          <p:cNvPr id="32" name="Shape 21"/>
          <p:cNvSpPr/>
          <p:nvPr/>
        </p:nvSpPr>
        <p:spPr>
          <a:xfrm>
            <a:off x="7239305" y="2523744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rcRect l="-57" r="-57" t="0" b="0"/>
          <a:stretch/>
        </p:blipFill>
        <p:spPr>
          <a:xfrm>
            <a:off x="7377379" y="2648102"/>
            <a:ext cx="200254" cy="228600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7858354" y="2619756"/>
            <a:ext cx="3333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초보 중심 정량적 난도지표 (6개)</a:t>
            </a:r>
            <a:endParaRPr lang="en-US" sz="1500" dirty="0"/>
          </a:p>
        </p:txBody>
      </p:sp>
      <p:sp>
        <p:nvSpPr>
          <p:cNvPr id="35" name="Shape 23"/>
          <p:cNvSpPr/>
          <p:nvPr/>
        </p:nvSpPr>
        <p:spPr>
          <a:xfrm>
            <a:off x="7239305" y="3524098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rcRect l="-57" r="-57" t="0" b="0"/>
          <a:stretch/>
        </p:blipFill>
        <p:spPr>
          <a:xfrm>
            <a:off x="7377379" y="3648456"/>
            <a:ext cx="200254" cy="228600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7858354" y="3619195"/>
            <a:ext cx="3333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산악예보 · 계절 기반 안전 필터</a:t>
            </a:r>
            <a:endParaRPr lang="en-US" sz="1500" dirty="0"/>
          </a:p>
        </p:txBody>
      </p:sp>
      <p:sp>
        <p:nvSpPr>
          <p:cNvPr id="38" name="Shape 25"/>
          <p:cNvSpPr/>
          <p:nvPr/>
        </p:nvSpPr>
        <p:spPr>
          <a:xfrm>
            <a:off x="7239305" y="4524451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rcRect l="-57" r="-57" t="0" b="0"/>
          <a:stretch/>
        </p:blipFill>
        <p:spPr>
          <a:xfrm>
            <a:off x="7377379" y="4647895"/>
            <a:ext cx="200254" cy="228600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7858354" y="4619549"/>
            <a:ext cx="3333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 / 여행 연계 스코어링</a:t>
            </a:r>
            <a:endParaRPr lang="en-US" sz="1500" dirty="0"/>
          </a:p>
        </p:txBody>
      </p:sp>
      <p:sp>
        <p:nvSpPr>
          <p:cNvPr id="41" name="Shape 27"/>
          <p:cNvSpPr/>
          <p:nvPr/>
        </p:nvSpPr>
        <p:spPr>
          <a:xfrm>
            <a:off x="7239305" y="5524805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rcRect l="-57" r="-57" t="0" b="0"/>
          <a:stretch/>
        </p:blipFill>
        <p:spPr>
          <a:xfrm>
            <a:off x="7377379" y="5648249"/>
            <a:ext cx="200254" cy="228600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7858354" y="5619902"/>
            <a:ext cx="3333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Explainable 추천 사유 카드 제공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01707" y="-1429207"/>
            <a:ext cx="3810305" cy="3810305"/>
          </a:xfrm>
          <a:prstGeom prst="ellipse">
            <a:avLst/>
          </a:prstGeom>
          <a:solidFill>
            <a:srgbClr val="D1FAE5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143000" y="5905195"/>
            <a:ext cx="2381098" cy="2381098"/>
          </a:xfrm>
          <a:prstGeom prst="ellipse">
            <a:avLst/>
          </a:prstGeom>
          <a:solidFill>
            <a:srgbClr val="ECFDF5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1524305"/>
            <a:ext cx="5352898" cy="2447849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39700" dist="38100" dir="16200000">
              <a:srgbClr val="000000">
                <a:alpha val="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" y="1524305"/>
            <a:ext cx="5352898" cy="57607"/>
          </a:xfrm>
          <a:prstGeom prst="roundRect">
            <a:avLst>
              <a:gd name="adj" fmla="val 247052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86500" y="1524305"/>
            <a:ext cx="5352898" cy="2447849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39700" dist="38100" dir="16200000">
              <a:srgbClr val="000000">
                <a:alpha val="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86500" y="1524305"/>
            <a:ext cx="5352898" cy="57607"/>
          </a:xfrm>
          <a:prstGeom prst="roundRect">
            <a:avLst>
              <a:gd name="adj" fmla="val 24705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" y="4143146"/>
            <a:ext cx="5352898" cy="2447849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39700" dist="38100" dir="16200000">
              <a:srgbClr val="000000">
                <a:alpha val="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1500" y="4143146"/>
            <a:ext cx="5352898" cy="57607"/>
          </a:xfrm>
          <a:prstGeom prst="roundRect">
            <a:avLst>
              <a:gd name="adj" fmla="val 247052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4143146"/>
            <a:ext cx="5352898" cy="2447849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39700" dist="38100" dir="16200000">
              <a:srgbClr val="000000">
                <a:alpha val="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86500" y="4143146"/>
            <a:ext cx="5352898" cy="57607"/>
          </a:xfrm>
          <a:prstGeom prst="roundRect">
            <a:avLst>
              <a:gd name="adj" fmla="val 247052"/>
            </a:avLst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5451" y="1857146"/>
            <a:ext cx="666598" cy="666598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072" b="-2072"/>
          <a:stretch/>
        </p:blipFill>
        <p:spPr>
          <a:xfrm>
            <a:off x="2286000" y="1762049"/>
            <a:ext cx="9144" cy="1904695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810451" y="1857146"/>
            <a:ext cx="666598" cy="66659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072" b="-2072"/>
          <a:stretch/>
        </p:blipFill>
        <p:spPr>
          <a:xfrm>
            <a:off x="8001000" y="1762049"/>
            <a:ext cx="9144" cy="190469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095451" y="4476902"/>
            <a:ext cx="666598" cy="666598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072" b="-2072"/>
          <a:stretch/>
        </p:blipFill>
        <p:spPr>
          <a:xfrm>
            <a:off x="2286000" y="4381805"/>
            <a:ext cx="9144" cy="190469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810451" y="4476902"/>
            <a:ext cx="666598" cy="666598"/>
          </a:xfrm>
          <a:prstGeom prst="ellipse">
            <a:avLst/>
          </a:prstGeom>
          <a:solidFill>
            <a:srgbClr val="FA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2072" b="-2072"/>
          <a:stretch/>
        </p:blipFill>
        <p:spPr>
          <a:xfrm>
            <a:off x="8001000" y="4381805"/>
            <a:ext cx="9144" cy="19046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1695" y="476402"/>
            <a:ext cx="5715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| 문제 정의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61695" y="800100"/>
            <a:ext cx="10668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페르소나 4유형 개요</a:t>
            </a:r>
            <a:endParaRPr lang="en-US" sz="33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-881" r="-881" t="0" b="0"/>
          <a:stretch/>
        </p:blipFill>
        <p:spPr>
          <a:xfrm>
            <a:off x="1309421" y="2057400"/>
            <a:ext cx="237744" cy="2670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71500" y="2667305"/>
            <a:ext cx="1714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P1. 입문·대중교통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571500" y="3000146"/>
            <a:ext cx="17145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29세 · 직장인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거주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2476195" y="1714500"/>
            <a:ext cx="1905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9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NEEDS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2476195" y="2000707"/>
            <a:ext cx="3238805" cy="381305"/>
          </a:xfrm>
          <a:prstGeom prst="roundRect">
            <a:avLst>
              <a:gd name="adj" fmla="val 95923"/>
            </a:avLst>
          </a:prstGeom>
          <a:solidFill>
            <a:srgbClr val="F9FAFB"/>
          </a:solidFill>
          <a:ln/>
        </p:spPr>
      </p:sp>
      <p:sp>
        <p:nvSpPr>
          <p:cNvPr id="29" name="Shape 22"/>
          <p:cNvSpPr/>
          <p:nvPr/>
        </p:nvSpPr>
        <p:spPr>
          <a:xfrm>
            <a:off x="2476195" y="2000707"/>
            <a:ext cx="38405" cy="381305"/>
          </a:xfrm>
          <a:prstGeom prst="roundRect">
            <a:avLst>
              <a:gd name="adj" fmla="val 95237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2648102" y="2095805"/>
            <a:ext cx="2934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반나절 이내의 </a:t>
            </a:r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코스</a:t>
            </a:r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선호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2476195" y="2457907"/>
            <a:ext cx="3238805" cy="381305"/>
          </a:xfrm>
          <a:prstGeom prst="roundRect">
            <a:avLst>
              <a:gd name="adj" fmla="val 95923"/>
            </a:avLst>
          </a:prstGeom>
          <a:solidFill>
            <a:srgbClr val="F9FAFB"/>
          </a:solidFill>
          <a:ln/>
        </p:spPr>
      </p:sp>
      <p:sp>
        <p:nvSpPr>
          <p:cNvPr id="32" name="Shape 25"/>
          <p:cNvSpPr/>
          <p:nvPr/>
        </p:nvSpPr>
        <p:spPr>
          <a:xfrm>
            <a:off x="2476195" y="2457907"/>
            <a:ext cx="38405" cy="381305"/>
          </a:xfrm>
          <a:prstGeom prst="roundRect">
            <a:avLst>
              <a:gd name="adj" fmla="val 95237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2648102" y="2553005"/>
            <a:ext cx="2934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지하철/버스 등 </a:t>
            </a:r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대중교통 접근</a:t>
            </a:r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필수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2476195" y="2915107"/>
            <a:ext cx="3238805" cy="381305"/>
          </a:xfrm>
          <a:prstGeom prst="roundRect">
            <a:avLst>
              <a:gd name="adj" fmla="val 95923"/>
            </a:avLst>
          </a:prstGeom>
          <a:solidFill>
            <a:srgbClr val="F9FAFB"/>
          </a:solidFill>
          <a:ln/>
        </p:spPr>
      </p:sp>
      <p:sp>
        <p:nvSpPr>
          <p:cNvPr id="35" name="Shape 28"/>
          <p:cNvSpPr/>
          <p:nvPr/>
        </p:nvSpPr>
        <p:spPr>
          <a:xfrm>
            <a:off x="2476195" y="2915107"/>
            <a:ext cx="38405" cy="381305"/>
          </a:xfrm>
          <a:prstGeom prst="roundRect">
            <a:avLst>
              <a:gd name="adj" fmla="val 95237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2648102" y="3010205"/>
            <a:ext cx="2934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무리 없는 완주와 </a:t>
            </a:r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절대적 안전</a:t>
            </a:r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최우선</a:t>
            </a:r>
            <a:endParaRPr lang="en-US" sz="10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010705" y="2057400"/>
            <a:ext cx="267005" cy="267005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6286500" y="2667305"/>
            <a:ext cx="1714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P2. 커플·여행연계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6286500" y="3000146"/>
            <a:ext cx="17145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32세 · 직장인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커플 등산러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8191195" y="1714500"/>
            <a:ext cx="1905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9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NEEDS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8191195" y="2000707"/>
            <a:ext cx="3238805" cy="381305"/>
          </a:xfrm>
          <a:prstGeom prst="roundRect">
            <a:avLst>
              <a:gd name="adj" fmla="val 95923"/>
            </a:avLst>
          </a:prstGeom>
          <a:solidFill>
            <a:srgbClr val="F9FAFB"/>
          </a:solidFill>
          <a:ln/>
        </p:spPr>
      </p:sp>
      <p:sp>
        <p:nvSpPr>
          <p:cNvPr id="42" name="Shape 34"/>
          <p:cNvSpPr/>
          <p:nvPr/>
        </p:nvSpPr>
        <p:spPr>
          <a:xfrm>
            <a:off x="8191195" y="2000707"/>
            <a:ext cx="38405" cy="381305"/>
          </a:xfrm>
          <a:prstGeom prst="roundRect">
            <a:avLst>
              <a:gd name="adj" fmla="val 952376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8363102" y="2095805"/>
            <a:ext cx="2934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SNS 인증 가능한 </a:t>
            </a:r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탁 트인 전망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8191195" y="2457907"/>
            <a:ext cx="3238805" cy="381305"/>
          </a:xfrm>
          <a:prstGeom prst="roundRect">
            <a:avLst>
              <a:gd name="adj" fmla="val 95923"/>
            </a:avLst>
          </a:prstGeom>
          <a:solidFill>
            <a:srgbClr val="F9FAFB"/>
          </a:solidFill>
          <a:ln/>
        </p:spPr>
      </p:sp>
      <p:sp>
        <p:nvSpPr>
          <p:cNvPr id="45" name="Shape 37"/>
          <p:cNvSpPr/>
          <p:nvPr/>
        </p:nvSpPr>
        <p:spPr>
          <a:xfrm>
            <a:off x="8191195" y="2457907"/>
            <a:ext cx="38405" cy="381305"/>
          </a:xfrm>
          <a:prstGeom prst="roundRect">
            <a:avLst>
              <a:gd name="adj" fmla="val 952376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8363102" y="2553005"/>
            <a:ext cx="2934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등산 후 주변 </a:t>
            </a:r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카페/맛집 관광</a:t>
            </a:r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연계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8191195" y="2915107"/>
            <a:ext cx="3238805" cy="381305"/>
          </a:xfrm>
          <a:prstGeom prst="roundRect">
            <a:avLst>
              <a:gd name="adj" fmla="val 95923"/>
            </a:avLst>
          </a:prstGeom>
          <a:solidFill>
            <a:srgbClr val="F9FAFB"/>
          </a:solidFill>
          <a:ln/>
        </p:spPr>
      </p:sp>
      <p:sp>
        <p:nvSpPr>
          <p:cNvPr id="48" name="Shape 40"/>
          <p:cNvSpPr/>
          <p:nvPr/>
        </p:nvSpPr>
        <p:spPr>
          <a:xfrm>
            <a:off x="8191195" y="2915107"/>
            <a:ext cx="38405" cy="381305"/>
          </a:xfrm>
          <a:prstGeom prst="roundRect">
            <a:avLst>
              <a:gd name="adj" fmla="val 952376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9" name="Text 41"/>
          <p:cNvSpPr txBox="1"/>
          <p:nvPr/>
        </p:nvSpPr>
        <p:spPr>
          <a:xfrm>
            <a:off x="8363102" y="3010205"/>
            <a:ext cx="2934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체력 소모가 적은 </a:t>
            </a:r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초/중급 수준</a:t>
            </a:r>
            <a:endParaRPr lang="en-US" sz="1000" dirty="0"/>
          </a:p>
        </p:txBody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rcRect l="-881" r="-881" t="0" b="0"/>
          <a:stretch/>
        </p:blipFill>
        <p:spPr>
          <a:xfrm>
            <a:off x="1309421" y="4677156"/>
            <a:ext cx="237744" cy="267005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446227" y="5286146"/>
            <a:ext cx="196596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P3. 체력강화(초중급)</a:t>
            </a:r>
            <a:endParaRPr lang="en-US" sz="1300" dirty="0"/>
          </a:p>
        </p:txBody>
      </p:sp>
      <p:sp>
        <p:nvSpPr>
          <p:cNvPr id="52" name="Text 43"/>
          <p:cNvSpPr txBox="1"/>
          <p:nvPr/>
        </p:nvSpPr>
        <p:spPr>
          <a:xfrm>
            <a:off x="571500" y="5619902"/>
            <a:ext cx="17145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35세 · 직장인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기록/성취 중시</a:t>
            </a:r>
            <a:endParaRPr lang="en-US" sz="900" dirty="0"/>
          </a:p>
        </p:txBody>
      </p:sp>
      <p:sp>
        <p:nvSpPr>
          <p:cNvPr id="53" name="Text 44"/>
          <p:cNvSpPr txBox="1"/>
          <p:nvPr/>
        </p:nvSpPr>
        <p:spPr>
          <a:xfrm>
            <a:off x="2476195" y="4334256"/>
            <a:ext cx="1905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9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NEEDS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2476195" y="4619549"/>
            <a:ext cx="3238805" cy="381305"/>
          </a:xfrm>
          <a:prstGeom prst="roundRect">
            <a:avLst>
              <a:gd name="adj" fmla="val 95923"/>
            </a:avLst>
          </a:prstGeom>
          <a:solidFill>
            <a:srgbClr val="F9FAFB"/>
          </a:solidFill>
          <a:ln/>
        </p:spPr>
      </p:sp>
      <p:sp>
        <p:nvSpPr>
          <p:cNvPr id="55" name="Shape 46"/>
          <p:cNvSpPr/>
          <p:nvPr/>
        </p:nvSpPr>
        <p:spPr>
          <a:xfrm>
            <a:off x="2476195" y="4619549"/>
            <a:ext cx="38405" cy="381305"/>
          </a:xfrm>
          <a:prstGeom prst="roundRect">
            <a:avLst>
              <a:gd name="adj" fmla="val 952376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6" name="Text 47"/>
          <p:cNvSpPr txBox="1"/>
          <p:nvPr/>
        </p:nvSpPr>
        <p:spPr>
          <a:xfrm>
            <a:off x="2648102" y="4714646"/>
            <a:ext cx="2934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땀 흘릴 수 있는 </a:t>
            </a:r>
            <a:pPr algn="l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경사도</a:t>
            </a:r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허용</a:t>
            </a:r>
            <a:endParaRPr lang="en-US" sz="1000" dirty="0"/>
          </a:p>
        </p:txBody>
      </p:sp>
      <p:sp>
        <p:nvSpPr>
          <p:cNvPr id="57" name="Shape 48"/>
          <p:cNvSpPr/>
          <p:nvPr/>
        </p:nvSpPr>
        <p:spPr>
          <a:xfrm>
            <a:off x="2476195" y="5076749"/>
            <a:ext cx="3238805" cy="381305"/>
          </a:xfrm>
          <a:prstGeom prst="roundRect">
            <a:avLst>
              <a:gd name="adj" fmla="val 95923"/>
            </a:avLst>
          </a:prstGeom>
          <a:solidFill>
            <a:srgbClr val="F9FAFB"/>
          </a:solidFill>
          <a:ln/>
        </p:spPr>
      </p:sp>
      <p:sp>
        <p:nvSpPr>
          <p:cNvPr id="58" name="Shape 49"/>
          <p:cNvSpPr/>
          <p:nvPr/>
        </p:nvSpPr>
        <p:spPr>
          <a:xfrm>
            <a:off x="2476195" y="5076749"/>
            <a:ext cx="38405" cy="381305"/>
          </a:xfrm>
          <a:prstGeom prst="roundRect">
            <a:avLst>
              <a:gd name="adj" fmla="val 952376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2648102" y="5171846"/>
            <a:ext cx="2934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운동 목적 달성과 </a:t>
            </a:r>
            <a:pPr algn="l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 갱신</a:t>
            </a:r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중시</a:t>
            </a:r>
            <a:endParaRPr lang="en-US" sz="1000" dirty="0"/>
          </a:p>
        </p:txBody>
      </p:sp>
      <p:sp>
        <p:nvSpPr>
          <p:cNvPr id="60" name="Shape 51"/>
          <p:cNvSpPr/>
          <p:nvPr/>
        </p:nvSpPr>
        <p:spPr>
          <a:xfrm>
            <a:off x="2476195" y="5533949"/>
            <a:ext cx="3238805" cy="381305"/>
          </a:xfrm>
          <a:prstGeom prst="roundRect">
            <a:avLst>
              <a:gd name="adj" fmla="val 95923"/>
            </a:avLst>
          </a:prstGeom>
          <a:solidFill>
            <a:srgbClr val="F9FAFB"/>
          </a:solidFill>
          <a:ln/>
        </p:spPr>
      </p:sp>
      <p:sp>
        <p:nvSpPr>
          <p:cNvPr id="61" name="Shape 52"/>
          <p:cNvSpPr/>
          <p:nvPr/>
        </p:nvSpPr>
        <p:spPr>
          <a:xfrm>
            <a:off x="2476195" y="5533949"/>
            <a:ext cx="38405" cy="381305"/>
          </a:xfrm>
          <a:prstGeom prst="roundRect">
            <a:avLst>
              <a:gd name="adj" fmla="val 952376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2648102" y="5629046"/>
            <a:ext cx="2934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3~5시간 이상</a:t>
            </a:r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본격적인 산행</a:t>
            </a:r>
            <a:endParaRPr lang="en-US" sz="1000" dirty="0"/>
          </a:p>
        </p:txBody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976872" y="4677156"/>
            <a:ext cx="333756" cy="267005"/>
          </a:xfrm>
          <a:prstGeom prst="rect">
            <a:avLst/>
          </a:prstGeom>
        </p:spPr>
      </p:pic>
      <p:sp>
        <p:nvSpPr>
          <p:cNvPr id="64" name="Text 54"/>
          <p:cNvSpPr txBox="1"/>
          <p:nvPr/>
        </p:nvSpPr>
        <p:spPr>
          <a:xfrm>
            <a:off x="6214262" y="5286146"/>
            <a:ext cx="185989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P4. 가족·안전최우선</a:t>
            </a:r>
            <a:endParaRPr lang="en-US" sz="1300" dirty="0"/>
          </a:p>
        </p:txBody>
      </p:sp>
      <p:sp>
        <p:nvSpPr>
          <p:cNvPr id="65" name="Text 55"/>
          <p:cNvSpPr txBox="1"/>
          <p:nvPr/>
        </p:nvSpPr>
        <p:spPr>
          <a:xfrm>
            <a:off x="6286500" y="5619902"/>
            <a:ext cx="17145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40세 · 학부모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동반</a:t>
            </a:r>
            <a:endParaRPr lang="en-US" sz="900" dirty="0"/>
          </a:p>
        </p:txBody>
      </p:sp>
      <p:sp>
        <p:nvSpPr>
          <p:cNvPr id="66" name="Text 56"/>
          <p:cNvSpPr txBox="1"/>
          <p:nvPr/>
        </p:nvSpPr>
        <p:spPr>
          <a:xfrm>
            <a:off x="8191195" y="4334256"/>
            <a:ext cx="1905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9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NEEDS</a:t>
            </a:r>
            <a:endParaRPr lang="en-US" sz="900" dirty="0"/>
          </a:p>
        </p:txBody>
      </p:sp>
      <p:sp>
        <p:nvSpPr>
          <p:cNvPr id="67" name="Shape 57"/>
          <p:cNvSpPr/>
          <p:nvPr/>
        </p:nvSpPr>
        <p:spPr>
          <a:xfrm>
            <a:off x="8191195" y="4619549"/>
            <a:ext cx="3238805" cy="381305"/>
          </a:xfrm>
          <a:prstGeom prst="roundRect">
            <a:avLst>
              <a:gd name="adj" fmla="val 95923"/>
            </a:avLst>
          </a:prstGeom>
          <a:solidFill>
            <a:srgbClr val="F9FAFB"/>
          </a:solidFill>
          <a:ln/>
        </p:spPr>
      </p:sp>
      <p:sp>
        <p:nvSpPr>
          <p:cNvPr id="68" name="Shape 58"/>
          <p:cNvSpPr/>
          <p:nvPr/>
        </p:nvSpPr>
        <p:spPr>
          <a:xfrm>
            <a:off x="8191195" y="4619549"/>
            <a:ext cx="38405" cy="381305"/>
          </a:xfrm>
          <a:prstGeom prst="roundRect">
            <a:avLst>
              <a:gd name="adj" fmla="val 952376"/>
            </a:avLst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9" name="Text 59"/>
          <p:cNvSpPr txBox="1"/>
          <p:nvPr/>
        </p:nvSpPr>
        <p:spPr>
          <a:xfrm>
            <a:off x="8363102" y="4714646"/>
            <a:ext cx="2934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유아동/시니어</a:t>
            </a:r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동반 가능 여부</a:t>
            </a:r>
            <a:endParaRPr lang="en-US" sz="1000" dirty="0"/>
          </a:p>
        </p:txBody>
      </p:sp>
      <p:sp>
        <p:nvSpPr>
          <p:cNvPr id="70" name="Shape 60"/>
          <p:cNvSpPr/>
          <p:nvPr/>
        </p:nvSpPr>
        <p:spPr>
          <a:xfrm>
            <a:off x="8191195" y="5076749"/>
            <a:ext cx="3238805" cy="381305"/>
          </a:xfrm>
          <a:prstGeom prst="roundRect">
            <a:avLst>
              <a:gd name="adj" fmla="val 95923"/>
            </a:avLst>
          </a:prstGeom>
          <a:solidFill>
            <a:srgbClr val="F9FAFB"/>
          </a:solidFill>
          <a:ln/>
        </p:spPr>
      </p:sp>
      <p:sp>
        <p:nvSpPr>
          <p:cNvPr id="71" name="Shape 61"/>
          <p:cNvSpPr/>
          <p:nvPr/>
        </p:nvSpPr>
        <p:spPr>
          <a:xfrm>
            <a:off x="8191195" y="5076749"/>
            <a:ext cx="38405" cy="381305"/>
          </a:xfrm>
          <a:prstGeom prst="roundRect">
            <a:avLst>
              <a:gd name="adj" fmla="val 952376"/>
            </a:avLst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72" name="Text 62"/>
          <p:cNvSpPr txBox="1"/>
          <p:nvPr/>
        </p:nvSpPr>
        <p:spPr>
          <a:xfrm>
            <a:off x="8363102" y="5171846"/>
            <a:ext cx="2934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완만한 경사 및 </a:t>
            </a:r>
            <a:pPr algn="l" indent="0" marL="0">
              <a:buNone/>
            </a:pPr>
            <a:r>
              <a:rPr lang="en-US" sz="100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무장애 데크</a:t>
            </a:r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선호</a:t>
            </a:r>
            <a:endParaRPr lang="en-US" sz="1000" dirty="0"/>
          </a:p>
        </p:txBody>
      </p:sp>
      <p:sp>
        <p:nvSpPr>
          <p:cNvPr id="73" name="Shape 63"/>
          <p:cNvSpPr/>
          <p:nvPr/>
        </p:nvSpPr>
        <p:spPr>
          <a:xfrm>
            <a:off x="8191195" y="5533949"/>
            <a:ext cx="3238805" cy="381305"/>
          </a:xfrm>
          <a:prstGeom prst="roundRect">
            <a:avLst>
              <a:gd name="adj" fmla="val 95923"/>
            </a:avLst>
          </a:prstGeom>
          <a:solidFill>
            <a:srgbClr val="F9FAFB"/>
          </a:solidFill>
          <a:ln/>
        </p:spPr>
      </p:sp>
      <p:sp>
        <p:nvSpPr>
          <p:cNvPr id="74" name="Shape 64"/>
          <p:cNvSpPr/>
          <p:nvPr/>
        </p:nvSpPr>
        <p:spPr>
          <a:xfrm>
            <a:off x="8191195" y="5533949"/>
            <a:ext cx="38405" cy="381305"/>
          </a:xfrm>
          <a:prstGeom prst="roundRect">
            <a:avLst>
              <a:gd name="adj" fmla="val 952376"/>
            </a:avLst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75" name="Text 65"/>
          <p:cNvSpPr txBox="1"/>
          <p:nvPr/>
        </p:nvSpPr>
        <p:spPr>
          <a:xfrm>
            <a:off x="8363102" y="5629046"/>
            <a:ext cx="2934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화장실, 넓은 주차장 등 </a:t>
            </a:r>
            <a:pPr algn="l" indent="0" marL="0">
              <a:buNone/>
            </a:pPr>
            <a:r>
              <a:rPr lang="en-US" sz="100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필수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01707" y="-1429207"/>
            <a:ext cx="3810305" cy="3810305"/>
          </a:xfrm>
          <a:prstGeom prst="ellipse">
            <a:avLst/>
          </a:prstGeom>
          <a:solidFill>
            <a:srgbClr val="D1FAE5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52805" y="5715000"/>
            <a:ext cx="2381098" cy="2381098"/>
          </a:xfrm>
          <a:prstGeom prst="ellipse">
            <a:avLst/>
          </a:prstGeom>
          <a:solidFill>
            <a:srgbClr val="ECFDF5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1714500"/>
            <a:ext cx="10705795" cy="800100"/>
          </a:xfrm>
          <a:prstGeom prst="roundRect">
            <a:avLst>
              <a:gd name="adj" fmla="val 32653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1695" y="2952598"/>
            <a:ext cx="1923898" cy="1285646"/>
          </a:xfrm>
          <a:prstGeom prst="roundRect">
            <a:avLst>
              <a:gd name="adj" fmla="val 1264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1695" y="2952598"/>
            <a:ext cx="1923898" cy="38405"/>
          </a:xfrm>
          <a:prstGeom prst="roundRect">
            <a:avLst>
              <a:gd name="adj" fmla="val 42327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38805" y="2952598"/>
            <a:ext cx="3258007" cy="1285646"/>
          </a:xfrm>
          <a:prstGeom prst="roundRect">
            <a:avLst>
              <a:gd name="adj" fmla="val 1264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38805" y="2952598"/>
            <a:ext cx="3258007" cy="38405"/>
          </a:xfrm>
          <a:prstGeom prst="roundRect">
            <a:avLst>
              <a:gd name="adj" fmla="val 42327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8195" y="2952598"/>
            <a:ext cx="1923898" cy="1285646"/>
          </a:xfrm>
          <a:prstGeom prst="roundRect">
            <a:avLst>
              <a:gd name="adj" fmla="val 1264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048195" y="2952598"/>
            <a:ext cx="1923898" cy="38405"/>
          </a:xfrm>
          <a:prstGeom prst="roundRect">
            <a:avLst>
              <a:gd name="adj" fmla="val 42327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25305" y="2952598"/>
            <a:ext cx="1923898" cy="1285646"/>
          </a:xfrm>
          <a:prstGeom prst="roundRect">
            <a:avLst>
              <a:gd name="adj" fmla="val 1264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525305" y="2952598"/>
            <a:ext cx="1923898" cy="38405"/>
          </a:xfrm>
          <a:prstGeom prst="roundRect">
            <a:avLst>
              <a:gd name="adj" fmla="val 42327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1695" y="4667098"/>
            <a:ext cx="10668305" cy="11430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38100" dir="16200000">
              <a:srgbClr val="10b981">
                <a:alpha val="2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61695" y="476402"/>
            <a:ext cx="5715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| 문제 정의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61695" y="857707"/>
            <a:ext cx="10668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PeakFit 추천 알고리즘</a:t>
            </a:r>
            <a:endParaRPr lang="en-US" sz="33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5" b="-45"/>
          <a:stretch/>
        </p:blipFill>
        <p:spPr>
          <a:xfrm>
            <a:off x="966521" y="1981505"/>
            <a:ext cx="256946" cy="2286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333195" y="1952244"/>
            <a:ext cx="9906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조건: 지역 / 이동수단 / 소요시간 / 희망난이도 / 선호(전망·숲길·여행) / 현재 날씨·계절</a:t>
            </a:r>
            <a:endParaRPr lang="en-US" sz="15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-133" r="-133" t="0" b="0"/>
          <a:stretch/>
        </p:blipFill>
        <p:spPr>
          <a:xfrm>
            <a:off x="6010351" y="2600554"/>
            <a:ext cx="171907" cy="228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57707" y="3095244"/>
            <a:ext cx="1714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1차 필터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857707" y="3419856"/>
            <a:ext cx="17145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이용가능 여부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안전컷(강수/풍속)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</a:t>
            </a:r>
            <a:endParaRPr lang="en-US" sz="10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-57" r="-57" t="0" b="0"/>
          <a:stretch/>
        </p:blipFill>
        <p:spPr>
          <a:xfrm>
            <a:off x="2852928" y="3457346"/>
            <a:ext cx="200254" cy="2286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333902" y="3095244"/>
            <a:ext cx="3048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스코어링 (난도 Score)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3333902" y="3419856"/>
            <a:ext cx="3048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 = 0.3경사 + 0.3암반 + 0.2누적고도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+ 0.1거리 + 0.1후기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-57" r="-57" t="0" b="0"/>
          <a:stretch/>
        </p:blipFill>
        <p:spPr>
          <a:xfrm>
            <a:off x="6662318" y="3457346"/>
            <a:ext cx="200254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44207" y="3095244"/>
            <a:ext cx="1714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계절 보정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7144207" y="3419856"/>
            <a:ext cx="1714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조망 / 단풍 가중치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그늘 / 빙판 리스크</a:t>
            </a:r>
            <a:endParaRPr lang="en-US" sz="10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-57" r="-57" t="0" b="0"/>
          <a:stretch/>
        </p:blipFill>
        <p:spPr>
          <a:xfrm>
            <a:off x="9139428" y="3457346"/>
            <a:ext cx="200254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620402" y="3095244"/>
            <a:ext cx="1714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혼잡도 페널티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9620402" y="3419856"/>
            <a:ext cx="1714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 인파 집중 구역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 차감</a:t>
            </a:r>
            <a:endParaRPr lang="en-US" sz="10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-133" r="-133" t="0" b="0"/>
          <a:stretch/>
        </p:blipFill>
        <p:spPr>
          <a:xfrm>
            <a:off x="6010351" y="4315054"/>
            <a:ext cx="171907" cy="228600"/>
          </a:xfrm>
          <a:prstGeom prst="rect">
            <a:avLst/>
          </a:prstGeom>
        </p:spPr>
      </p:pic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362249" y="5124298"/>
            <a:ext cx="228600" cy="22860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3762756" y="5095951"/>
            <a:ext cx="76206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spc="-19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최종 출력: TOP-N 추천 + 추천 사유 + 대안 코스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01707" y="-1429207"/>
            <a:ext cx="3810305" cy="3810305"/>
          </a:xfrm>
          <a:prstGeom prst="ellipse">
            <a:avLst/>
          </a:prstGeom>
          <a:solidFill>
            <a:srgbClr val="D1FAE5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52805" y="5715000"/>
            <a:ext cx="2381098" cy="2381098"/>
          </a:xfrm>
          <a:prstGeom prst="ellipse">
            <a:avLst/>
          </a:prstGeom>
          <a:solidFill>
            <a:srgbClr val="ECFDF5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61695" y="3238805"/>
            <a:ext cx="10705795" cy="29910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1695" y="571500"/>
            <a:ext cx="5715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| 문제 정의 · 분석 목적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1333195"/>
            <a:ext cx="1066830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정보는 많지만,</a:t>
            </a:r>
            <a:pPr algn="l" indent="0" marL="0">
              <a:buNone/>
            </a:pPr>
            <a:endParaRPr lang="en-US" sz="3600" dirty="0"/>
          </a:p>
          <a:p>
            <a:pPr algn="l" indent="0" marL="0">
              <a:buNone/>
            </a:pPr>
            <a:r>
              <a:rPr lang="en-US" sz="3600" b="1" spc="-72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‘내 수준에 맞는 안전한 코스’</a:t>
            </a:r>
            <a:pPr algn="l" indent="0" marL="0">
              <a:buNone/>
            </a:pPr>
            <a:r>
              <a:rPr lang="en-US" sz="3600" b="1" spc="-72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판단이 어렵다.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1333195" y="3762756"/>
            <a:ext cx="533095" cy="533095"/>
          </a:xfrm>
          <a:prstGeom prst="roundRect">
            <a:avLst>
              <a:gd name="adj" fmla="val 98015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5" b="-45"/>
          <a:stretch/>
        </p:blipFill>
        <p:spPr>
          <a:xfrm>
            <a:off x="1471270" y="3914546"/>
            <a:ext cx="256946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95805" y="3838651"/>
            <a:ext cx="8572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1회 이상 등산·숲길체험 73% </a:t>
            </a:r>
            <a:pPr algn="l" indent="0" marL="0">
              <a:buNone/>
            </a:pPr>
            <a:r>
              <a:rPr lang="en-US" sz="2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(수요 충분)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1333195" y="4524451"/>
            <a:ext cx="533095" cy="533095"/>
          </a:xfrm>
          <a:prstGeom prst="roundRect">
            <a:avLst>
              <a:gd name="adj" fmla="val 98015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-133" r="-133" t="0" b="0"/>
          <a:stretch/>
        </p:blipFill>
        <p:spPr>
          <a:xfrm>
            <a:off x="1514246" y="4677156"/>
            <a:ext cx="171907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095805" y="4600346"/>
            <a:ext cx="8572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입문자는 ‘정상 인증’보다 </a:t>
            </a:r>
            <a:pPr algn="l" indent="0" marL="0">
              <a:buNone/>
            </a:pPr>
            <a:r>
              <a:rPr lang="en-US" sz="2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안전/쉬움/접근성</a:t>
            </a:r>
            <a:pPr algn="l" indent="0" marL="0">
              <a:buNone/>
            </a:pPr>
            <a:r>
              <a:rPr lang="en-US" sz="21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원함</a:t>
            </a:r>
            <a:endParaRPr lang="en-US" sz="2100" dirty="0"/>
          </a:p>
        </p:txBody>
      </p:sp>
      <p:sp>
        <p:nvSpPr>
          <p:cNvPr id="15" name="Shape 10"/>
          <p:cNvSpPr/>
          <p:nvPr/>
        </p:nvSpPr>
        <p:spPr>
          <a:xfrm>
            <a:off x="1333195" y="5286146"/>
            <a:ext cx="533095" cy="533095"/>
          </a:xfrm>
          <a:prstGeom prst="roundRect">
            <a:avLst>
              <a:gd name="adj" fmla="val 98015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485900" y="5438851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095805" y="5362956"/>
            <a:ext cx="8572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목표:</a:t>
            </a:r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실패 확률을 낮춘 ‘설명 가능한 추천’ 기준 설계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29207" y="-1429207"/>
            <a:ext cx="3810305" cy="381030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01707" y="4572000"/>
            <a:ext cx="2857500" cy="28575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33195" y="1524305"/>
            <a:ext cx="9525305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0" b="1" spc="-150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75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3047695"/>
            <a:ext cx="95253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-96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소개</a:t>
            </a:r>
            <a:endParaRPr lang="en-US" sz="4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84" b="-384"/>
          <a:stretch/>
        </p:blipFill>
        <p:spPr>
          <a:xfrm>
            <a:off x="5619902" y="4381805"/>
            <a:ext cx="952805" cy="576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33195" y="4858207"/>
            <a:ext cx="9525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spc="-24" kern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출처 · 구조 · 신뢰도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25305" y="-952805"/>
            <a:ext cx="3333902" cy="3333902"/>
          </a:xfrm>
          <a:prstGeom prst="ellipse">
            <a:avLst/>
          </a:prstGeom>
          <a:solidFill>
            <a:srgbClr val="D1FAE5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61695" y="5715000"/>
            <a:ext cx="1904695" cy="1904695"/>
          </a:xfrm>
          <a:prstGeom prst="ellipse">
            <a:avLst/>
          </a:prstGeom>
          <a:solidFill>
            <a:srgbClr val="ECFDF5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2000707"/>
            <a:ext cx="10687507" cy="972007"/>
          </a:xfrm>
          <a:prstGeom prst="roundRect">
            <a:avLst>
              <a:gd name="adj" fmla="val 2951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1695" y="3095244"/>
            <a:ext cx="10687507" cy="972007"/>
          </a:xfrm>
          <a:prstGeom prst="roundRect">
            <a:avLst>
              <a:gd name="adj" fmla="val 2951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1695" y="4190695"/>
            <a:ext cx="10687507" cy="972007"/>
          </a:xfrm>
          <a:prstGeom prst="roundRect">
            <a:avLst>
              <a:gd name="adj" fmla="val 2951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1695" y="5286146"/>
            <a:ext cx="10687507" cy="972007"/>
          </a:xfrm>
          <a:prstGeom prst="roundRect">
            <a:avLst>
              <a:gd name="adj" fmla="val 2951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61695" y="476402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| 데이터 소개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61695" y="857707"/>
            <a:ext cx="57150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개요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1524305" y="1619402"/>
            <a:ext cx="1524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/ 기관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38805" y="1619402"/>
            <a:ext cx="3048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데이터명 및 포맷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76695" y="1619402"/>
            <a:ext cx="4763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활용 항목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0354" y="2286000"/>
            <a:ext cx="381305" cy="38130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-760" r="-760" t="0" b="0"/>
          <a:stretch/>
        </p:blipFill>
        <p:spPr>
          <a:xfrm>
            <a:off x="1114654" y="2391156"/>
            <a:ext cx="152705" cy="171907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524305" y="2286000"/>
            <a:ext cx="15243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산림청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238805" y="2286000"/>
            <a:ext cx="3048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등산로정보 </a:t>
            </a:r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API, XML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76695" y="2333549"/>
            <a:ext cx="4763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산명, 링크, 기본 코스 공간정보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000354" y="3381451"/>
            <a:ext cx="381305" cy="38130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-1064" r="-1064" t="0" b="0"/>
          <a:stretch/>
        </p:blipFill>
        <p:spPr>
          <a:xfrm>
            <a:off x="1080821" y="3486607"/>
            <a:ext cx="219456" cy="17190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524305" y="3381451"/>
            <a:ext cx="15243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국립공원공단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3238805" y="3381451"/>
            <a:ext cx="3048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탐방로 </a:t>
            </a:r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6476695" y="3429000"/>
            <a:ext cx="4763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거리, 고도, 시간, 난이도, 통제 상태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1000354" y="4476902"/>
            <a:ext cx="381305" cy="38130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-1064" r="-1064" t="0" b="0"/>
          <a:stretch/>
        </p:blipFill>
        <p:spPr>
          <a:xfrm>
            <a:off x="1080821" y="4581144"/>
            <a:ext cx="219456" cy="171907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524305" y="4476902"/>
            <a:ext cx="15243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기상청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3238805" y="4476902"/>
            <a:ext cx="3048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산악예보 </a:t>
            </a:r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6476695" y="4524451"/>
            <a:ext cx="4763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기온, 강수, 풍속, 체감온도 (+5일)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1000354" y="5572354"/>
            <a:ext cx="381305" cy="38130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42" b="-842"/>
          <a:stretch/>
        </p:blipFill>
        <p:spPr>
          <a:xfrm>
            <a:off x="1095451" y="5676595"/>
            <a:ext cx="190195" cy="171907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524305" y="5572354"/>
            <a:ext cx="15243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한국관광공사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3238805" y="5572354"/>
            <a:ext cx="3048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두루누비 </a:t>
            </a:r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6476695" y="5619902"/>
            <a:ext cx="4763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걷기 코스 GPX, 주변 관광/연계 정보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52805" y="-952805"/>
            <a:ext cx="2857500" cy="2857500"/>
          </a:xfrm>
          <a:prstGeom prst="ellipse">
            <a:avLst/>
          </a:prstGeom>
          <a:solidFill>
            <a:srgbClr val="ECFDF5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77195" y="4762195"/>
            <a:ext cx="2381098" cy="2381098"/>
          </a:xfrm>
          <a:prstGeom prst="ellipse">
            <a:avLst/>
          </a:prstGeom>
          <a:solidFill>
            <a:srgbClr val="D1FAE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2476195"/>
            <a:ext cx="5162702" cy="1733702"/>
          </a:xfrm>
          <a:prstGeom prst="roundRect">
            <a:avLst>
              <a:gd name="adj" fmla="val 115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39700" dist="38100" dir="16200000">
              <a:srgbClr val="000000">
                <a:alpha val="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86500" y="2476195"/>
            <a:ext cx="5162702" cy="1733702"/>
          </a:xfrm>
          <a:prstGeom prst="roundRect">
            <a:avLst>
              <a:gd name="adj" fmla="val 115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39700" dist="38100" dir="162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1695" y="4572000"/>
            <a:ext cx="5162702" cy="1733702"/>
          </a:xfrm>
          <a:prstGeom prst="roundRect">
            <a:avLst>
              <a:gd name="adj" fmla="val 115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39700" dist="38100" dir="16200000">
              <a:srgbClr val="000000">
                <a:alpha val="3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6" b="-6"/>
          <a:stretch/>
        </p:blipFill>
        <p:spPr>
          <a:xfrm>
            <a:off x="6286500" y="4572000"/>
            <a:ext cx="5181905" cy="17529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61695" y="571500"/>
            <a:ext cx="5715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| 전처리 요약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1143000"/>
            <a:ext cx="1152875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신뢰도를 높이는 </a:t>
            </a:r>
            <a:pPr algn="l" indent="0" marL="0">
              <a:buNone/>
            </a:pPr>
            <a:r>
              <a:rPr lang="en-US" sz="3300" b="1" spc="-66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 및 파생변수</a:t>
            </a:r>
            <a:endParaRPr lang="en-US" sz="3300" dirty="0"/>
          </a:p>
        </p:txBody>
      </p:sp>
      <p:sp>
        <p:nvSpPr>
          <p:cNvPr id="12" name="Shape 9"/>
          <p:cNvSpPr/>
          <p:nvPr/>
        </p:nvSpPr>
        <p:spPr>
          <a:xfrm>
            <a:off x="1047902" y="3029407"/>
            <a:ext cx="609905" cy="60990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-685" r="-685" t="0" b="0"/>
          <a:stretch/>
        </p:blipFill>
        <p:spPr>
          <a:xfrm>
            <a:off x="1200607" y="3200400"/>
            <a:ext cx="304495" cy="2670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904695" y="2952598"/>
            <a:ext cx="37152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결측/중복 데이터 처리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904695" y="3362249"/>
            <a:ext cx="3715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거리, 시간, 난이도, 좌표 등 주요 변수의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결측치 보간 및 산명/좌표 기준 중복 정제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572707" y="3029407"/>
            <a:ext cx="609905" cy="60990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43700" y="3200400"/>
            <a:ext cx="26700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429500" y="2952598"/>
            <a:ext cx="37152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타입 정비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429500" y="3362249"/>
            <a:ext cx="3715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문자열로 수집된 시간/거리의 수치형 변환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 예보 데이터의 날짜형(Datetime) 변환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1047902" y="5124298"/>
            <a:ext cx="609905" cy="60990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218895" y="5296205"/>
            <a:ext cx="267005" cy="2670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904695" y="5048402"/>
            <a:ext cx="37152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이상값(Outlier) 필터링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904695" y="5458054"/>
            <a:ext cx="3715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비정상적으로 길거나 짧은 거리/시간,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명백한 고도 오류 등 노이즈 데이터 제거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572707" y="5124298"/>
            <a:ext cx="609905" cy="60990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43700" y="5296205"/>
            <a:ext cx="267005" cy="2670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429500" y="5048402"/>
            <a:ext cx="37152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파생변수 생성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7429500" y="5458054"/>
            <a:ext cx="37152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초보 적합도, 대중교통 접근성 지수,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 위험도 점수, 여행 연계 점수 산출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01707" y="-476402"/>
            <a:ext cx="2857500" cy="2857500"/>
          </a:xfrm>
          <a:prstGeom prst="ellipse">
            <a:avLst/>
          </a:prstGeom>
          <a:solidFill>
            <a:srgbClr val="D1FAE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52805" y="5238598"/>
            <a:ext cx="2381098" cy="2381098"/>
          </a:xfrm>
          <a:prstGeom prst="ellipse">
            <a:avLst/>
          </a:prstGeom>
          <a:solidFill>
            <a:srgbClr val="ECFDF5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1857146"/>
            <a:ext cx="3258007" cy="2115007"/>
          </a:xfrm>
          <a:prstGeom prst="roundRect">
            <a:avLst>
              <a:gd name="adj" fmla="val 46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76902" y="1857146"/>
            <a:ext cx="3258007" cy="2115007"/>
          </a:xfrm>
          <a:prstGeom prst="roundRect">
            <a:avLst>
              <a:gd name="adj" fmla="val 46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91195" y="1857146"/>
            <a:ext cx="3258007" cy="2115007"/>
          </a:xfrm>
          <a:prstGeom prst="roundRect">
            <a:avLst>
              <a:gd name="adj" fmla="val 46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1695" y="4286707"/>
            <a:ext cx="3258007" cy="2115007"/>
          </a:xfrm>
          <a:prstGeom prst="roundRect">
            <a:avLst>
              <a:gd name="adj" fmla="val 46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76902" y="4286707"/>
            <a:ext cx="3258007" cy="2115007"/>
          </a:xfrm>
          <a:prstGeom prst="roundRect">
            <a:avLst>
              <a:gd name="adj" fmla="val 46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191195" y="4286707"/>
            <a:ext cx="3258007" cy="2115007"/>
          </a:xfrm>
          <a:prstGeom prst="roundRect">
            <a:avLst>
              <a:gd name="adj" fmla="val 46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-5" r="-5" t="0" b="0"/>
          <a:stretch/>
        </p:blipFill>
        <p:spPr>
          <a:xfrm>
            <a:off x="761695" y="1857146"/>
            <a:ext cx="32388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-5" r="-5" t="0" b="0"/>
          <a:stretch/>
        </p:blipFill>
        <p:spPr>
          <a:xfrm>
            <a:off x="4476902" y="1857146"/>
            <a:ext cx="3238805" cy="45720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-5" r="-5" t="0" b="0"/>
          <a:stretch/>
        </p:blipFill>
        <p:spPr>
          <a:xfrm>
            <a:off x="8191195" y="1857146"/>
            <a:ext cx="3238805" cy="45720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5" r="-5" t="0" b="0"/>
          <a:stretch/>
        </p:blipFill>
        <p:spPr>
          <a:xfrm>
            <a:off x="761695" y="4286707"/>
            <a:ext cx="3238805" cy="457200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-5" r="-5" t="0" b="0"/>
          <a:stretch/>
        </p:blipFill>
        <p:spPr>
          <a:xfrm>
            <a:off x="4476902" y="4286707"/>
            <a:ext cx="3238805" cy="45720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-5" r="-5" t="0" b="0"/>
          <a:stretch/>
        </p:blipFill>
        <p:spPr>
          <a:xfrm>
            <a:off x="8191195" y="4286707"/>
            <a:ext cx="3238805" cy="4572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61695" y="476402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| 전처리 계획 상세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761695" y="905256"/>
            <a:ext cx="57150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계획 </a:t>
            </a:r>
            <a:pPr algn="l" indent="0" marL="0">
              <a:buNone/>
            </a:pPr>
            <a:r>
              <a:rPr lang="en-US" sz="3300" b="1" spc="-66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(예상)</a:t>
            </a:r>
            <a:endParaRPr lang="en-US" sz="33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42" b="-842"/>
          <a:stretch/>
        </p:blipFill>
        <p:spPr>
          <a:xfrm>
            <a:off x="972007" y="2000707"/>
            <a:ext cx="190195" cy="171907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285646" y="1952244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결측값 처리</a:t>
            </a:r>
            <a:endParaRPr lang="en-US" sz="1500" dirty="0"/>
          </a:p>
        </p:txBody>
      </p:sp>
      <p:sp>
        <p:nvSpPr>
          <p:cNvPr id="22" name="Text 13"/>
          <p:cNvSpPr txBox="1"/>
          <p:nvPr/>
        </p:nvSpPr>
        <p:spPr>
          <a:xfrm>
            <a:off x="952805" y="2572207"/>
            <a:ext cx="28575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노면정보 미입력 구간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인근 구간 평균 대체 또는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'정보 없음' 태그 유지</a:t>
            </a:r>
            <a:endParaRPr lang="en-US" sz="12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842" b="-842"/>
          <a:stretch/>
        </p:blipFill>
        <p:spPr>
          <a:xfrm>
            <a:off x="4686300" y="2000707"/>
            <a:ext cx="190195" cy="171907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5000854" y="1952244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좌표계 통합</a:t>
            </a:r>
            <a:endParaRPr lang="en-US" sz="1500" dirty="0"/>
          </a:p>
        </p:txBody>
      </p:sp>
      <p:sp>
        <p:nvSpPr>
          <p:cNvPr id="25" name="Text 15"/>
          <p:cNvSpPr txBox="1"/>
          <p:nvPr/>
        </p:nvSpPr>
        <p:spPr>
          <a:xfrm>
            <a:off x="4667098" y="2572207"/>
            <a:ext cx="28575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GIS 데이터 좌표계 혼재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(WGS84 / TM)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전체 WGS84 통일</a:t>
            </a:r>
            <a:endParaRPr lang="en-US" sz="12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410651" y="2000707"/>
            <a:ext cx="171907" cy="171907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8715146" y="1952244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경사도 파생변수</a:t>
            </a:r>
            <a:endParaRPr lang="en-US" sz="1500" dirty="0"/>
          </a:p>
        </p:txBody>
      </p:sp>
      <p:sp>
        <p:nvSpPr>
          <p:cNvPr id="28" name="Text 17"/>
          <p:cNvSpPr txBox="1"/>
          <p:nvPr/>
        </p:nvSpPr>
        <p:spPr>
          <a:xfrm>
            <a:off x="8382305" y="2572207"/>
            <a:ext cx="2953512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GPX 고도 프로파일에서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구간별 경사각(°) 계산 후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 분류</a:t>
            </a:r>
            <a:endParaRPr lang="en-US" sz="12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81151" y="4429354"/>
            <a:ext cx="171907" cy="171907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285646" y="4381805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암반구간 비율</a:t>
            </a:r>
            <a:endParaRPr lang="en-US" sz="1500" dirty="0"/>
          </a:p>
        </p:txBody>
      </p:sp>
      <p:sp>
        <p:nvSpPr>
          <p:cNvPr id="31" name="Text 19"/>
          <p:cNvSpPr txBox="1"/>
          <p:nvPr/>
        </p:nvSpPr>
        <p:spPr>
          <a:xfrm>
            <a:off x="952805" y="5000854"/>
            <a:ext cx="28575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노면정보 API의 구간별 노면 유형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전체 코스 대비 암반 구간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비율(%) 산출</a:t>
            </a:r>
            <a:endParaRPr lang="en-US" sz="12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rcRect l="-1773" r="-1773" t="0" b="0"/>
          <a:stretch/>
        </p:blipFill>
        <p:spPr>
          <a:xfrm>
            <a:off x="4714646" y="4429354"/>
            <a:ext cx="133502" cy="171907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5000854" y="4381805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후기 텍스트 정제</a:t>
            </a:r>
            <a:endParaRPr lang="en-US" sz="1500" dirty="0"/>
          </a:p>
        </p:txBody>
      </p:sp>
      <p:sp>
        <p:nvSpPr>
          <p:cNvPr id="34" name="Text 21"/>
          <p:cNvSpPr txBox="1"/>
          <p:nvPr/>
        </p:nvSpPr>
        <p:spPr>
          <a:xfrm>
            <a:off x="4667098" y="5000854"/>
            <a:ext cx="28575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불용어 제거·형태소 분석(KoNLPy)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후 난도 관련 키워드 빈도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감성 지수 추출</a:t>
            </a:r>
            <a:endParaRPr lang="en-US" sz="120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410651" y="4429354"/>
            <a:ext cx="171907" cy="171907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8715146" y="4381805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이상값 처리</a:t>
            </a:r>
            <a:endParaRPr lang="en-US" sz="1500" dirty="0"/>
          </a:p>
        </p:txBody>
      </p:sp>
      <p:sp>
        <p:nvSpPr>
          <p:cNvPr id="37" name="Text 23"/>
          <p:cNvSpPr txBox="1"/>
          <p:nvPr/>
        </p:nvSpPr>
        <p:spPr>
          <a:xfrm>
            <a:off x="8382305" y="5000854"/>
            <a:ext cx="2953512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박스플롯 IQR 기준으로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소요시간·거리 이상치 탐지 및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기준(제거/유지) 결정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52805" y="-952805"/>
            <a:ext cx="2857500" cy="2857500"/>
          </a:xfrm>
          <a:prstGeom prst="ellipse">
            <a:avLst/>
          </a:prstGeom>
          <a:solidFill>
            <a:srgbClr val="ECFDF5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77195" y="4762195"/>
            <a:ext cx="2381098" cy="2381098"/>
          </a:xfrm>
          <a:prstGeom prst="ellipse">
            <a:avLst/>
          </a:prstGeom>
          <a:solidFill>
            <a:srgbClr val="D1FAE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1714500"/>
            <a:ext cx="10668305" cy="761695"/>
          </a:xfrm>
          <a:prstGeom prst="roundRect">
            <a:avLst>
              <a:gd name="adj" fmla="val 24010"/>
            </a:avLst>
          </a:prstGeom>
          <a:solidFill>
            <a:srgbClr val="1F3F3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1695" y="2762402"/>
            <a:ext cx="2000707" cy="3448202"/>
          </a:xfrm>
          <a:prstGeom prst="roundRect">
            <a:avLst>
              <a:gd name="adj" fmla="val 34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33395" y="2762402"/>
            <a:ext cx="2000707" cy="3448202"/>
          </a:xfrm>
          <a:prstGeom prst="roundRect">
            <a:avLst>
              <a:gd name="adj" fmla="val 34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05095" y="2762402"/>
            <a:ext cx="2000707" cy="3448202"/>
          </a:xfrm>
          <a:prstGeom prst="roundRect">
            <a:avLst>
              <a:gd name="adj" fmla="val 34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76795" y="2762402"/>
            <a:ext cx="2000707" cy="3448202"/>
          </a:xfrm>
          <a:prstGeom prst="roundRect">
            <a:avLst>
              <a:gd name="adj" fmla="val 34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48495" y="2762402"/>
            <a:ext cx="2000707" cy="3448202"/>
          </a:xfrm>
          <a:prstGeom prst="roundRect">
            <a:avLst>
              <a:gd name="adj" fmla="val 34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1695" y="2762402"/>
            <a:ext cx="1981505" cy="104790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52805" y="5524805"/>
            <a:ext cx="1600200" cy="381305"/>
          </a:xfrm>
          <a:prstGeom prst="roundRect">
            <a:avLst>
              <a:gd name="adj" fmla="val 47962"/>
            </a:avLst>
          </a:prstGeom>
          <a:solidFill>
            <a:srgbClr val="3B7A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33395" y="2762402"/>
            <a:ext cx="1981505" cy="104790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124505" y="5524805"/>
            <a:ext cx="1600200" cy="381305"/>
          </a:xfrm>
          <a:prstGeom prst="roundRect">
            <a:avLst>
              <a:gd name="adj" fmla="val 47962"/>
            </a:avLst>
          </a:prstGeom>
          <a:solidFill>
            <a:srgbClr val="3B7A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05095" y="2762402"/>
            <a:ext cx="1981505" cy="104790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296205" y="5524805"/>
            <a:ext cx="1600200" cy="381305"/>
          </a:xfrm>
          <a:prstGeom prst="roundRect">
            <a:avLst>
              <a:gd name="adj" fmla="val 47962"/>
            </a:avLst>
          </a:prstGeom>
          <a:solidFill>
            <a:srgbClr val="3B7A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276795" y="2762402"/>
            <a:ext cx="1981505" cy="104790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467905" y="5524805"/>
            <a:ext cx="1600200" cy="381305"/>
          </a:xfrm>
          <a:prstGeom prst="roundRect">
            <a:avLst>
              <a:gd name="adj" fmla="val 47962"/>
            </a:avLst>
          </a:prstGeom>
          <a:solidFill>
            <a:srgbClr val="3B7A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48495" y="2762402"/>
            <a:ext cx="1981505" cy="104790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9639605" y="5524805"/>
            <a:ext cx="1600200" cy="381305"/>
          </a:xfrm>
          <a:prstGeom prst="roundRect">
            <a:avLst>
              <a:gd name="adj" fmla="val 47962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761695" y="476402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| 지표 설정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857707"/>
            <a:ext cx="5715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난도 종합 지표 정의</a:t>
            </a:r>
            <a:endParaRPr lang="en-US" sz="3100" dirty="0"/>
          </a:p>
        </p:txBody>
      </p:sp>
      <p:sp>
        <p:nvSpPr>
          <p:cNvPr id="24" name="Text 17"/>
          <p:cNvSpPr txBox="1"/>
          <p:nvPr/>
        </p:nvSpPr>
        <p:spPr>
          <a:xfrm>
            <a:off x="609905" y="1952244"/>
            <a:ext cx="10972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-17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난도 Score = 경사도(30%) + 암반구간비율(30%) + 누적고도(20%) + 거리(10%) + 후기 체감난도(10%)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761695" y="3000146"/>
            <a:ext cx="19815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경사도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3333902"/>
            <a:ext cx="19815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30%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952805" y="409559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GPX 구간별 경사각 → 평균·최대 경사도 산출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952805" y="5572354"/>
            <a:ext cx="16002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객관적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2933395" y="3000146"/>
            <a:ext cx="19815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암반구간비율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2933395" y="3333902"/>
            <a:ext cx="19815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30%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3124505" y="409559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노면정보 API 기반 암반/계단 구간 비율 계산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3124505" y="5572354"/>
            <a:ext cx="16002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객관적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5105095" y="3000146"/>
            <a:ext cx="19815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누적고도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5105095" y="3333902"/>
            <a:ext cx="19815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20%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5296205" y="409559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출발~정상 누적 상승 고도(m) 기준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5296205" y="5572354"/>
            <a:ext cx="16002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객관적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7276795" y="3000146"/>
            <a:ext cx="19815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거리</a:t>
            </a:r>
            <a:endParaRPr lang="en-US" sz="1600" dirty="0"/>
          </a:p>
        </p:txBody>
      </p:sp>
      <p:sp>
        <p:nvSpPr>
          <p:cNvPr id="38" name="Text 31"/>
          <p:cNvSpPr txBox="1"/>
          <p:nvPr/>
        </p:nvSpPr>
        <p:spPr>
          <a:xfrm>
            <a:off x="7276795" y="3333902"/>
            <a:ext cx="19815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10%</a:t>
            </a:r>
            <a:endParaRPr lang="en-US" sz="1500" dirty="0"/>
          </a:p>
        </p:txBody>
      </p:sp>
      <p:sp>
        <p:nvSpPr>
          <p:cNvPr id="39" name="Text 32"/>
          <p:cNvSpPr txBox="1"/>
          <p:nvPr/>
        </p:nvSpPr>
        <p:spPr>
          <a:xfrm>
            <a:off x="7467905" y="4095598"/>
            <a:ext cx="17291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왕복 총 거리(km) 기준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7467905" y="5572354"/>
            <a:ext cx="16002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객관적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9448495" y="3000146"/>
            <a:ext cx="19815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후기 체감난도</a:t>
            </a:r>
            <a:endParaRPr lang="en-US" sz="1500" dirty="0"/>
          </a:p>
        </p:txBody>
      </p:sp>
      <p:sp>
        <p:nvSpPr>
          <p:cNvPr id="42" name="Text 35"/>
          <p:cNvSpPr txBox="1"/>
          <p:nvPr/>
        </p:nvSpPr>
        <p:spPr>
          <a:xfrm>
            <a:off x="9448495" y="3333902"/>
            <a:ext cx="19815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10%</a:t>
            </a:r>
            <a:endParaRPr lang="en-US" sz="1500" dirty="0"/>
          </a:p>
        </p:txBody>
      </p:sp>
      <p:sp>
        <p:nvSpPr>
          <p:cNvPr id="43" name="Text 36"/>
          <p:cNvSpPr txBox="1"/>
          <p:nvPr/>
        </p:nvSpPr>
        <p:spPr>
          <a:xfrm>
            <a:off x="9639605" y="409559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블로그/앱 후기 텍스트 감성분석 결과 반영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9639605" y="5572354"/>
            <a:ext cx="16002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주관적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01707" y="-761695"/>
            <a:ext cx="3333902" cy="3333902"/>
          </a:xfrm>
          <a:prstGeom prst="ellipse">
            <a:avLst/>
          </a:prstGeom>
          <a:solidFill>
            <a:srgbClr val="D1FAE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52805" y="5238598"/>
            <a:ext cx="2381098" cy="2381098"/>
          </a:xfrm>
          <a:prstGeom prst="ellipse">
            <a:avLst/>
          </a:prstGeom>
          <a:solidFill>
            <a:srgbClr val="ECFDF5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1714500"/>
            <a:ext cx="5162702" cy="46863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86500" y="1714500"/>
            <a:ext cx="5162702" cy="468630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1695" y="1714500"/>
            <a:ext cx="5143500" cy="57150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86500" y="1714500"/>
            <a:ext cx="5143500" cy="5715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1695" y="476402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| 분석 계획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61695" y="857707"/>
            <a:ext cx="7620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EDA 계획 </a:t>
            </a:r>
            <a:pPr algn="l" indent="0" marL="0">
              <a:buNone/>
            </a:pPr>
            <a:r>
              <a:rPr lang="en-US" sz="3100" b="1" spc="-63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(단변량 · 다변량)</a:t>
            </a:r>
            <a:endParaRPr lang="en-US" sz="3100" dirty="0"/>
          </a:p>
        </p:txBody>
      </p:sp>
      <p:sp>
        <p:nvSpPr>
          <p:cNvPr id="12" name="Text 8"/>
          <p:cNvSpPr txBox="1"/>
          <p:nvPr/>
        </p:nvSpPr>
        <p:spPr>
          <a:xfrm>
            <a:off x="1047902" y="1867205"/>
            <a:ext cx="4572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단변량 분석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(10개 이상)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276502" y="2572207"/>
            <a:ext cx="43434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경사도 분포 히스토그램</a:t>
            </a:r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정규성 확인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276502" y="3070555"/>
            <a:ext cx="43434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암반구간비율 박스플롯</a:t>
            </a:r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이상치 탐지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276502" y="3569818"/>
            <a:ext cx="43434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코스별 총 거리 막대그래프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276502" y="4069080"/>
            <a:ext cx="43434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누적고도 분포</a:t>
            </a:r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난도 편향 방향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276502" y="4568342"/>
            <a:ext cx="43434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산별 코스 수 빈도 그래프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276502" y="5067605"/>
            <a:ext cx="43434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후기 체감난도 점수 분포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1276502" y="5566867"/>
            <a:ext cx="43434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지역별 등산로 수 지도 시각화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572707" y="1867205"/>
            <a:ext cx="4572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다변량 분석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(10개 이상)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801307" y="2572207"/>
            <a:ext cx="43434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경사도 × 암반비율 산점도</a:t>
            </a:r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상관계수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801307" y="3070555"/>
            <a:ext cx="43434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난도등급 × 지역 교차표</a:t>
            </a:r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(Crosstab)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6801307" y="3569818"/>
            <a:ext cx="43434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누적고도 × 후기 체감난도 히트맵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801307" y="4069080"/>
            <a:ext cx="43434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거리 × 소요시간 회귀 분석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6801307" y="4568342"/>
            <a:ext cx="43434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난도 등급별 피벗 테이블 집계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801307" y="5067605"/>
            <a:ext cx="43434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노면유형(암반/흙/계단) 스택 막대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6801307" y="5566867"/>
            <a:ext cx="43434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계절별 후기 감성점수 시계열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01707" y="-952805"/>
            <a:ext cx="2857500" cy="2857500"/>
          </a:xfrm>
          <a:prstGeom prst="ellipse">
            <a:avLst/>
          </a:prstGeom>
          <a:solidFill>
            <a:srgbClr val="D1FAE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61695" y="5238598"/>
            <a:ext cx="2381098" cy="2381098"/>
          </a:xfrm>
          <a:prstGeom prst="ellipse">
            <a:avLst/>
          </a:prstGeom>
          <a:solidFill>
            <a:srgbClr val="ECFDF5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1714500"/>
            <a:ext cx="3276295" cy="4515307"/>
          </a:xfrm>
          <a:prstGeom prst="roundRect">
            <a:avLst>
              <a:gd name="adj" fmla="val 1947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6902" y="1714500"/>
            <a:ext cx="3276295" cy="4515307"/>
          </a:xfrm>
          <a:prstGeom prst="roundRect">
            <a:avLst>
              <a:gd name="adj" fmla="val 1947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91195" y="1714500"/>
            <a:ext cx="3276295" cy="4515307"/>
          </a:xfrm>
          <a:prstGeom prst="roundRect">
            <a:avLst>
              <a:gd name="adj" fmla="val 1947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761695" y="1714500"/>
            <a:ext cx="3238805" cy="5907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52805" y="4572000"/>
            <a:ext cx="2857500" cy="1429207"/>
          </a:xfrm>
          <a:prstGeom prst="roundRect">
            <a:avLst>
              <a:gd name="adj" fmla="val 682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" b="-8"/>
          <a:stretch/>
        </p:blipFill>
        <p:spPr>
          <a:xfrm>
            <a:off x="4476902" y="1714500"/>
            <a:ext cx="3238805" cy="59070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667098" y="4572000"/>
            <a:ext cx="2857500" cy="1429207"/>
          </a:xfrm>
          <a:prstGeom prst="roundRect">
            <a:avLst>
              <a:gd name="adj" fmla="val 682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8191195" y="1714500"/>
            <a:ext cx="3238805" cy="59070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382305" y="4572000"/>
            <a:ext cx="2857500" cy="1429207"/>
          </a:xfrm>
          <a:prstGeom prst="roundRect">
            <a:avLst>
              <a:gd name="adj" fmla="val 682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61695" y="476402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| 분석 결과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761695" y="857707"/>
            <a:ext cx="7620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 시각화 예시</a:t>
            </a:r>
            <a:endParaRPr lang="en-US" sz="3100" dirty="0"/>
          </a:p>
        </p:txBody>
      </p:sp>
      <p:sp>
        <p:nvSpPr>
          <p:cNvPr id="17" name="Shape 12"/>
          <p:cNvSpPr/>
          <p:nvPr/>
        </p:nvSpPr>
        <p:spPr>
          <a:xfrm>
            <a:off x="9334195" y="476402"/>
            <a:ext cx="2133295" cy="457200"/>
          </a:xfrm>
          <a:prstGeom prst="roundRect">
            <a:avLst>
              <a:gd name="adj" fmla="val 183333"/>
            </a:avLst>
          </a:prstGeom>
          <a:solidFill>
            <a:srgbClr val="FEE2E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667598" y="1000354"/>
            <a:ext cx="2762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실제 분석 결과 그래프로 교체해주세요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1857146"/>
            <a:ext cx="2857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[차트#1] 거리·소요시간 분포</a:t>
            </a:r>
            <a:endParaRPr lang="en-US" sz="13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143354" y="2762402"/>
            <a:ext cx="476402" cy="4764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52805" y="3524098"/>
            <a:ext cx="285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그래프: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히스토그램 또는 커널 밀도 추정(KDE)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324051" y="4762195"/>
            <a:ext cx="2296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메시지 예시</a:t>
            </a:r>
            <a:endParaRPr lang="en-US" sz="10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-2512" r="-2512" t="0" b="0"/>
          <a:stretch/>
        </p:blipFill>
        <p:spPr>
          <a:xfrm>
            <a:off x="1143000" y="4797857"/>
            <a:ext cx="105156" cy="13350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143000" y="5143500"/>
            <a:ext cx="2477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"입문 후보 피크는 왕복 ≤2.5h 구간에 집중됨"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4667098" y="1857146"/>
            <a:ext cx="2857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[차트#2] 난도별 암반구간비율</a:t>
            </a:r>
            <a:endParaRPr lang="en-US" sz="13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857646" y="2762402"/>
            <a:ext cx="476402" cy="4764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667098" y="3524098"/>
            <a:ext cx="285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그래프: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박스플롯(Box Plot)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5039258" y="4762195"/>
            <a:ext cx="2296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메시지 예시</a:t>
            </a:r>
            <a:endParaRPr lang="en-US" sz="10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-2512" r="-2512" t="0" b="0"/>
          <a:stretch/>
        </p:blipFill>
        <p:spPr>
          <a:xfrm>
            <a:off x="4858207" y="4797857"/>
            <a:ext cx="105156" cy="13350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858207" y="5143500"/>
            <a:ext cx="2477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"입문 코스의 암반비율 중앙값은 8%로 중급(35%)과 뚜렷한 차이"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8382305" y="1857146"/>
            <a:ext cx="2857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[차트#3] 날씨 위험도 vs 추천률</a:t>
            </a:r>
            <a:endParaRPr lang="en-US" sz="13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572854" y="2762402"/>
            <a:ext cx="476402" cy="47640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382305" y="3524098"/>
            <a:ext cx="285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그래프: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라인 차트 또는 콤보(막대+선) 차트</a:t>
            </a:r>
            <a:endParaRPr lang="en-US" sz="1000" dirty="0"/>
          </a:p>
        </p:txBody>
      </p:sp>
      <p:sp>
        <p:nvSpPr>
          <p:cNvPr id="34" name="Text 24"/>
          <p:cNvSpPr txBox="1"/>
          <p:nvPr/>
        </p:nvSpPr>
        <p:spPr>
          <a:xfrm>
            <a:off x="8753551" y="4762195"/>
            <a:ext cx="2296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메시지 예시</a:t>
            </a:r>
            <a:endParaRPr lang="en-US" sz="10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rcRect l="-2512" r="-2512" t="0" b="0"/>
          <a:stretch/>
        </p:blipFill>
        <p:spPr>
          <a:xfrm>
            <a:off x="8572500" y="4797857"/>
            <a:ext cx="105156" cy="133502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8572500" y="5143500"/>
            <a:ext cx="2477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"강수확률≥60% 또는 풍속≥8m/s 시 초보 추천 확률 -65%"</a:t>
            </a:r>
            <a:endParaRPr lang="en-US" sz="13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534449" y="599846"/>
            <a:ext cx="171907" cy="171907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9810598" y="552298"/>
            <a:ext cx="1429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🔴 수정필요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25305" y="-952805"/>
            <a:ext cx="3333902" cy="3333902"/>
          </a:xfrm>
          <a:prstGeom prst="ellipse">
            <a:avLst/>
          </a:prstGeom>
          <a:solidFill>
            <a:srgbClr val="D1FAE5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61695" y="5715000"/>
            <a:ext cx="1904695" cy="1904695"/>
          </a:xfrm>
          <a:prstGeom prst="ellipse">
            <a:avLst/>
          </a:prstGeom>
          <a:solidFill>
            <a:srgbClr val="ECFDF5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33902" y="1524305"/>
            <a:ext cx="2667305" cy="4762195"/>
          </a:xfrm>
          <a:prstGeom prst="roundRect">
            <a:avLst>
              <a:gd name="adj" fmla="val 2938"/>
            </a:avLst>
          </a:prstGeom>
          <a:solidFill>
            <a:srgbClr val="ECF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1695" y="2000707"/>
            <a:ext cx="10687507" cy="638251"/>
          </a:xfrm>
          <a:prstGeom prst="roundRect">
            <a:avLst>
              <a:gd name="adj" fmla="val 513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1695" y="2714854"/>
            <a:ext cx="10687507" cy="638251"/>
          </a:xfrm>
          <a:prstGeom prst="roundRect">
            <a:avLst>
              <a:gd name="adj" fmla="val 513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1695" y="3429000"/>
            <a:ext cx="10687507" cy="638251"/>
          </a:xfrm>
          <a:prstGeom prst="roundRect">
            <a:avLst>
              <a:gd name="adj" fmla="val 513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1695" y="4143146"/>
            <a:ext cx="10687507" cy="638251"/>
          </a:xfrm>
          <a:prstGeom prst="roundRect">
            <a:avLst>
              <a:gd name="adj" fmla="val 513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695" y="4858207"/>
            <a:ext cx="10687507" cy="638251"/>
          </a:xfrm>
          <a:prstGeom prst="roundRect">
            <a:avLst>
              <a:gd name="adj" fmla="val 513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1695" y="5572354"/>
            <a:ext cx="10687507" cy="638251"/>
          </a:xfrm>
          <a:prstGeom prst="roundRect">
            <a:avLst>
              <a:gd name="adj" fmla="val 513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1695" y="476402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| 지표 설정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61695" y="800100"/>
            <a:ext cx="7620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등산 코스 </a:t>
            </a:r>
            <a:pPr algn="l" indent="0" marL="0">
              <a:buNone/>
            </a:pPr>
            <a:r>
              <a:rPr lang="en-US" sz="3100" b="1" spc="-63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난도 구분 지표</a:t>
            </a:r>
            <a:endParaRPr lang="en-US" sz="31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1619402"/>
            <a:ext cx="1524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지표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52344" y="1676095"/>
            <a:ext cx="152705" cy="15270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3429000" y="1619402"/>
            <a:ext cx="2477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입문 (Target)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096305" y="1619402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초급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762695" y="1619402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2171700"/>
            <a:ext cx="1905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왕복 거리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429000" y="2171700"/>
            <a:ext cx="2477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3km 이하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096305" y="2186330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~ 5km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762695" y="2186330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~ 8km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2885846"/>
            <a:ext cx="1905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시간 (왕복)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3429000" y="2885846"/>
            <a:ext cx="2477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2시간 이내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096305" y="2900477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~ 3.5시간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762695" y="2900477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3.5 ~ 5시간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" y="3600907"/>
            <a:ext cx="1905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 상승 고도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3429000" y="3600907"/>
            <a:ext cx="2477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200m 이하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096305" y="3614623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 ~ 400m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762695" y="3614623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 ~ 600m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4315054"/>
            <a:ext cx="1905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경사도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3429000" y="4315054"/>
            <a:ext cx="2477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10% 미만 (완만)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6096305" y="4328770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~ 20% (보통)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762695" y="4328770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20% 이상 (가파름)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1143000" y="5029200"/>
            <a:ext cx="1905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 (이동)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3429000" y="5043830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대중교통 직행/근접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6096305" y="5043830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대중교통 환승 필요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8762695" y="5043830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자차 이동 권장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1143000" y="5743346"/>
            <a:ext cx="1905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암반 구간 비율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3429000" y="5743346"/>
            <a:ext cx="2477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10% 미만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6096305" y="5757977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~ 30%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8762695" y="5757977"/>
            <a:ext cx="2477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30% 이상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951890" y="6334049"/>
            <a:ext cx="10478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 산정 근거: 산림청 등산로 난이도 분류 기준 및 국립공원공단 탐방로 등급제 데이터를 기반으로 본 프로젝트 타깃(입문자) 관점에서 재분류 및 정의함.</a:t>
            </a:r>
            <a:endParaRPr lang="en-US" sz="1000" dirty="0"/>
          </a:p>
        </p:txBody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1695" y="6369710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29207" y="-1429207"/>
            <a:ext cx="3810305" cy="381030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01707" y="4572000"/>
            <a:ext cx="2857500" cy="28575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33195" y="1524305"/>
            <a:ext cx="952530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0" b="1" spc="-150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75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3047695"/>
            <a:ext cx="95253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-96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</a:t>
            </a:r>
            <a:endParaRPr lang="en-US" sz="4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84" b="-384"/>
          <a:stretch/>
        </p:blipFill>
        <p:spPr>
          <a:xfrm>
            <a:off x="5619902" y="4381805"/>
            <a:ext cx="952805" cy="576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33195" y="4858207"/>
            <a:ext cx="9525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spc="-24" kern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질문별 그래프 + 한 줄 해석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01707" y="-952805"/>
            <a:ext cx="2857500" cy="2857500"/>
          </a:xfrm>
          <a:prstGeom prst="ellipse">
            <a:avLst/>
          </a:prstGeom>
          <a:solidFill>
            <a:srgbClr val="D1FAE5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61695" y="5715000"/>
            <a:ext cx="1904695" cy="1904695"/>
          </a:xfrm>
          <a:prstGeom prst="ellipse">
            <a:avLst/>
          </a:prstGeom>
          <a:solidFill>
            <a:srgbClr val="ECFDF5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1714500"/>
            <a:ext cx="10724998" cy="3486607"/>
          </a:xfrm>
          <a:prstGeom prst="roundRect">
            <a:avLst>
              <a:gd name="adj" fmla="val 2293"/>
            </a:avLst>
          </a:prstGeom>
          <a:solidFill>
            <a:srgbClr val="F3F4F6"/>
          </a:solidFill>
          <a:ln w="38100">
            <a:solidFill>
              <a:srgbClr val="9CA3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1695" y="5429707"/>
            <a:ext cx="10744200" cy="1047902"/>
          </a:xfrm>
          <a:prstGeom prst="roundRect">
            <a:avLst>
              <a:gd name="adj" fmla="val 19039"/>
            </a:avLst>
          </a:prstGeom>
          <a:solidFill>
            <a:srgbClr val="ECFDF5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1695" y="5429707"/>
            <a:ext cx="75895" cy="1047902"/>
          </a:xfrm>
          <a:prstGeom prst="roundRect">
            <a:avLst>
              <a:gd name="adj" fmla="val 262870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1695" y="476402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| 분석 결과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61695" y="857707"/>
            <a:ext cx="10668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 1: </a:t>
            </a:r>
            <a:pPr algn="l" indent="0" marL="0">
              <a:buNone/>
            </a:pPr>
            <a:r>
              <a:rPr lang="en-US" sz="3100" b="1" spc="-63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초보 코스의 공통 특성</a:t>
            </a:r>
            <a:pPr algn="l" indent="0" marL="0">
              <a:buNone/>
            </a:pPr>
            <a:r>
              <a:rPr lang="en-US" sz="3100" b="1" spc="-63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은?</a:t>
            </a:r>
            <a:endParaRPr lang="en-US" sz="3100" dirty="0"/>
          </a:p>
        </p:txBody>
      </p:sp>
      <p:sp>
        <p:nvSpPr>
          <p:cNvPr id="11" name="Text 9"/>
          <p:cNvSpPr txBox="1"/>
          <p:nvPr/>
        </p:nvSpPr>
        <p:spPr>
          <a:xfrm>
            <a:off x="761695" y="2952598"/>
            <a:ext cx="10668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🔴 데이터 분석결과 삽입 필요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61695" y="3543300"/>
            <a:ext cx="10668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그래프: 거리·소요시간 분포, 난이도별 박스플롯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-50" r="-50" t="0" b="0"/>
          <a:stretch/>
        </p:blipFill>
        <p:spPr>
          <a:xfrm>
            <a:off x="1266444" y="5800954"/>
            <a:ext cx="228600" cy="3044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809598" y="5845759"/>
            <a:ext cx="98682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예시:</a:t>
            </a:r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"왕복 ≤2.5h &amp; 누적상승고도 ≤400m 코스가 입문 친화 구간의 70% 차지" 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01707" y="-952805"/>
            <a:ext cx="2857500" cy="2857500"/>
          </a:xfrm>
          <a:prstGeom prst="ellipse">
            <a:avLst/>
          </a:prstGeom>
          <a:solidFill>
            <a:srgbClr val="D1FAE5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61695" y="5715000"/>
            <a:ext cx="1904695" cy="1904695"/>
          </a:xfrm>
          <a:prstGeom prst="ellipse">
            <a:avLst/>
          </a:prstGeom>
          <a:solidFill>
            <a:srgbClr val="ECFDF5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1714500"/>
            <a:ext cx="10724998" cy="3676802"/>
          </a:xfrm>
          <a:prstGeom prst="roundRect">
            <a:avLst>
              <a:gd name="adj" fmla="val 2062"/>
            </a:avLst>
          </a:prstGeom>
          <a:solidFill>
            <a:srgbClr val="F3F4F6"/>
          </a:solidFill>
          <a:ln w="38100">
            <a:solidFill>
              <a:srgbClr val="9CA3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1695" y="5524805"/>
            <a:ext cx="10744200" cy="952805"/>
          </a:xfrm>
          <a:prstGeom prst="roundRect">
            <a:avLst>
              <a:gd name="adj" fmla="val 23033"/>
            </a:avLst>
          </a:prstGeom>
          <a:solidFill>
            <a:srgbClr val="ECFDF5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1695" y="5524805"/>
            <a:ext cx="75895" cy="952805"/>
          </a:xfrm>
          <a:prstGeom prst="roundRect">
            <a:avLst>
              <a:gd name="adj" fmla="val 289157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1695" y="476402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| 분석 결과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61695" y="809244"/>
            <a:ext cx="10668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 2: </a:t>
            </a:r>
            <a:pPr algn="l" indent="0" marL="0">
              <a:buNone/>
            </a:pPr>
            <a:r>
              <a:rPr lang="en-US" sz="3100" b="1" spc="-63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계절이 추천에 미치는 영향</a:t>
            </a:r>
            <a:pPr algn="l" indent="0" marL="0">
              <a:buNone/>
            </a:pPr>
            <a:r>
              <a:rPr lang="en-US" sz="3100" b="1" spc="-63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은?</a:t>
            </a:r>
            <a:endParaRPr lang="en-US" sz="3100" dirty="0"/>
          </a:p>
        </p:txBody>
      </p:sp>
      <p:sp>
        <p:nvSpPr>
          <p:cNvPr id="11" name="Text 9"/>
          <p:cNvSpPr txBox="1"/>
          <p:nvPr/>
        </p:nvSpPr>
        <p:spPr>
          <a:xfrm>
            <a:off x="952805" y="3047695"/>
            <a:ext cx="10287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🔴 데이터 분석결과 삽입 필요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952805" y="3600907"/>
            <a:ext cx="10287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그래프: 계절별(봄/여름/가을/겨울) 추천 코스 분포, 계절별 등산 수요 트렌드 라인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-50" r="-50" t="0" b="0"/>
          <a:stretch/>
        </p:blipFill>
        <p:spPr>
          <a:xfrm>
            <a:off x="1314907" y="5848502"/>
            <a:ext cx="228600" cy="3044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809598" y="5691226"/>
            <a:ext cx="933511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예시:</a:t>
            </a:r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"봄·가을 등산 수요 집중 (전체의 65%), 여름은 그늘 많은 코스, 겨울은 저지대 코스 선호" 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01707" y="-952805"/>
            <a:ext cx="2857500" cy="2857500"/>
          </a:xfrm>
          <a:prstGeom prst="ellipse">
            <a:avLst/>
          </a:prstGeom>
          <a:solidFill>
            <a:srgbClr val="D1FAE5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61695" y="5715000"/>
            <a:ext cx="1904695" cy="1904695"/>
          </a:xfrm>
          <a:prstGeom prst="ellipse">
            <a:avLst/>
          </a:prstGeom>
          <a:solidFill>
            <a:srgbClr val="ECFDF5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1714500"/>
            <a:ext cx="10724998" cy="3581705"/>
          </a:xfrm>
          <a:prstGeom prst="roundRect">
            <a:avLst>
              <a:gd name="adj" fmla="val 2173"/>
            </a:avLst>
          </a:prstGeom>
          <a:solidFill>
            <a:srgbClr val="F3F4F6"/>
          </a:solidFill>
          <a:ln w="38100">
            <a:solidFill>
              <a:srgbClr val="9CA3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1695" y="5477256"/>
            <a:ext cx="10744200" cy="1095451"/>
          </a:xfrm>
          <a:prstGeom prst="roundRect">
            <a:avLst>
              <a:gd name="adj" fmla="val 17420"/>
            </a:avLst>
          </a:prstGeom>
          <a:solidFill>
            <a:srgbClr val="ECFDF5"/>
          </a:solidFill>
          <a:ln/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1695" y="5477256"/>
            <a:ext cx="75895" cy="1095451"/>
          </a:xfrm>
          <a:prstGeom prst="roundRect">
            <a:avLst>
              <a:gd name="adj" fmla="val 251441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1695" y="476402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| 분석 결과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61695" y="857707"/>
            <a:ext cx="10668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 3: </a:t>
            </a:r>
            <a:pPr algn="l" indent="0" marL="0">
              <a:buNone/>
            </a:pPr>
            <a:r>
              <a:rPr lang="en-US" sz="3100" b="1" spc="-63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접근성과 체감 난이도</a:t>
            </a:r>
            <a:pPr algn="l" indent="0" marL="0">
              <a:buNone/>
            </a:pPr>
            <a:r>
              <a:rPr lang="en-US" sz="3100" b="1" spc="-63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관계는?</a:t>
            </a:r>
            <a:endParaRPr lang="en-US" sz="3100" dirty="0"/>
          </a:p>
        </p:txBody>
      </p:sp>
      <p:sp>
        <p:nvSpPr>
          <p:cNvPr id="11" name="Text 9"/>
          <p:cNvSpPr txBox="1"/>
          <p:nvPr/>
        </p:nvSpPr>
        <p:spPr>
          <a:xfrm>
            <a:off x="761695" y="2952598"/>
            <a:ext cx="10668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🔴 데이터 분석결과 삽입 필요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61695" y="3504895"/>
            <a:ext cx="10668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그래프: 대중교통 접근성 × 추천률, 공식 난이도 vs 소요시간 산점도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-50" r="-50" t="0" b="0"/>
          <a:stretch/>
        </p:blipFill>
        <p:spPr>
          <a:xfrm>
            <a:off x="1266444" y="5867705"/>
            <a:ext cx="228600" cy="3044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809598" y="5691226"/>
            <a:ext cx="93351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예시:</a:t>
            </a:r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"공식 난이도보다 소요시간·누적상승고도가 체감 난이도를 더 잘 설명하며, 대중교통 접근성이 좋을수록 초보 선택 확률이 크게 상승함" 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01707" y="-1429207"/>
            <a:ext cx="3810305" cy="3810305"/>
          </a:xfrm>
          <a:prstGeom prst="ellipse">
            <a:avLst/>
          </a:prstGeom>
          <a:solidFill>
            <a:srgbClr val="D1FAE5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52805" y="5715000"/>
            <a:ext cx="2381098" cy="2381098"/>
          </a:xfrm>
          <a:prstGeom prst="ellipse">
            <a:avLst/>
          </a:prstGeom>
          <a:solidFill>
            <a:srgbClr val="ECFDF5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6" b="-16"/>
          <a:stretch/>
        </p:blipFill>
        <p:spPr>
          <a:xfrm>
            <a:off x="761695" y="1714500"/>
            <a:ext cx="5143500" cy="4764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2190902"/>
            <a:ext cx="5162702" cy="248625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761695" y="4667098"/>
            <a:ext cx="5162702" cy="1781251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6" b="-16"/>
          <a:stretch/>
        </p:blipFill>
        <p:spPr>
          <a:xfrm>
            <a:off x="6286500" y="1714500"/>
            <a:ext cx="5143500" cy="4764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286500" y="2190902"/>
            <a:ext cx="5162702" cy="248625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" b="-1"/>
          <a:stretch/>
        </p:blipFill>
        <p:spPr>
          <a:xfrm>
            <a:off x="6286500" y="4667098"/>
            <a:ext cx="5162702" cy="1781251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1143000" y="2476195"/>
            <a:ext cx="4419295" cy="1943100"/>
          </a:xfrm>
          <a:prstGeom prst="roundRect">
            <a:avLst>
              <a:gd name="adj" fmla="val 5536"/>
            </a:avLst>
          </a:prstGeom>
          <a:solidFill>
            <a:srgbClr val="F3F4F6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667805" y="2476195"/>
            <a:ext cx="4419295" cy="1943100"/>
          </a:xfrm>
          <a:prstGeom prst="roundRect">
            <a:avLst>
              <a:gd name="adj" fmla="val 5536"/>
            </a:avLst>
          </a:prstGeom>
          <a:solidFill>
            <a:srgbClr val="F3F4F6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761695" y="476402"/>
            <a:ext cx="5715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| 문제 정의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761695" y="857707"/>
            <a:ext cx="10668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페르소나별 추천 결과 예시 1/2</a:t>
            </a:r>
            <a:endParaRPr lang="en-US" sz="3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-1648" r="-1648" t="0" b="0"/>
          <a:stretch/>
        </p:blipFill>
        <p:spPr>
          <a:xfrm>
            <a:off x="1009498" y="1857146"/>
            <a:ext cx="171907" cy="19019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33195" y="1809598"/>
            <a:ext cx="38103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P1. 입문 · 대중교통형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1143000" y="3095244"/>
            <a:ext cx="4381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🔴 수정필요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1143000" y="3504895"/>
            <a:ext cx="438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산/코스 카드 삽입 (예: 아차산, 인왕산 등)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952805" y="4858207"/>
            <a:ext cx="4763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근거 (핵심 지표)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1143000" y="5181905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시간: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왕복 2.5시간 이하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1143000" y="5440680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고도/지형: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누적상승 200m 이하, 암반 구간 10% 미만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1143000" y="5699455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대중교통(지하철역) 도보 15분 이내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1143000" y="5959145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 요인: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봄/가을 추천 가중치 부여 (그늘/빙판 리스크 적음)</a:t>
            </a:r>
            <a:endParaRPr lang="en-US" sz="12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24244" y="1857146"/>
            <a:ext cx="190195" cy="19019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858000" y="1809598"/>
            <a:ext cx="38103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P2. 커플 · 여행연계형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6667805" y="3095244"/>
            <a:ext cx="4381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🔴 수정필요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6667805" y="3504895"/>
            <a:ext cx="438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산/코스 카드 삽입 (예: 북한산, 계양산 등)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6476695" y="4858207"/>
            <a:ext cx="4763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근거 (핵심 지표)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6667805" y="5181905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전망: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정상 뷰/포토존 우수 (후기 키워드 분석 반영)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6667805" y="5440680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시간: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왕복 3시간 이하 (체력 안배)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6667805" y="5699455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연계성: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하산 코스 주변 맛집/카페 접근성 점수 상위권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6667805" y="5959145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난이도: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초~중급 수준 허용, 암반 비율 30% 미만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01707" y="-1429207"/>
            <a:ext cx="3810305" cy="3810305"/>
          </a:xfrm>
          <a:prstGeom prst="ellipse">
            <a:avLst/>
          </a:prstGeom>
          <a:solidFill>
            <a:srgbClr val="FED7AA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52805" y="5715000"/>
            <a:ext cx="2381098" cy="2381098"/>
          </a:xfrm>
          <a:prstGeom prst="ellipse">
            <a:avLst/>
          </a:prstGeom>
          <a:solidFill>
            <a:srgbClr val="E9D5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6" b="-16"/>
          <a:stretch/>
        </p:blipFill>
        <p:spPr>
          <a:xfrm>
            <a:off x="761695" y="1714500"/>
            <a:ext cx="5143500" cy="4764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2190902"/>
            <a:ext cx="5162702" cy="248625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5" r="-5" t="0" b="0"/>
          <a:stretch/>
        </p:blipFill>
        <p:spPr>
          <a:xfrm>
            <a:off x="761695" y="4667098"/>
            <a:ext cx="5162702" cy="192389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6" b="-16"/>
          <a:stretch/>
        </p:blipFill>
        <p:spPr>
          <a:xfrm>
            <a:off x="6286500" y="1714500"/>
            <a:ext cx="5143500" cy="47640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286500" y="2190902"/>
            <a:ext cx="5162702" cy="248625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-5" r="-5" t="0" b="0"/>
          <a:stretch/>
        </p:blipFill>
        <p:spPr>
          <a:xfrm>
            <a:off x="6286500" y="4667098"/>
            <a:ext cx="5162702" cy="192389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1047902" y="2476195"/>
            <a:ext cx="4610405" cy="1981505"/>
          </a:xfrm>
          <a:prstGeom prst="roundRect">
            <a:avLst>
              <a:gd name="adj" fmla="val 5325"/>
            </a:avLst>
          </a:prstGeom>
          <a:solidFill>
            <a:srgbClr val="F3F4F6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572707" y="2476195"/>
            <a:ext cx="4610405" cy="1981505"/>
          </a:xfrm>
          <a:prstGeom prst="roundRect">
            <a:avLst>
              <a:gd name="adj" fmla="val 5325"/>
            </a:avLst>
          </a:prstGeom>
          <a:solidFill>
            <a:srgbClr val="F3F4F6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761695" y="476402"/>
            <a:ext cx="5715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| 문제 정의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761695" y="800100"/>
            <a:ext cx="10668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페르소나별 추천 결과 예시 2/2</a:t>
            </a:r>
            <a:endParaRPr lang="en-US" sz="3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24128" y="1857146"/>
            <a:ext cx="142646" cy="19019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33195" y="1809598"/>
            <a:ext cx="38103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P3. 체력강화형(초중급)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1143000" y="3095244"/>
            <a:ext cx="4381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🔴 수정필요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1143000" y="3504895"/>
            <a:ext cx="438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산/코스 카드 삽입 (예: 관악산 비봉, 청계산 등)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000354" y="4858207"/>
            <a:ext cx="47155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근거 (핵심 지표)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1190549" y="5219395"/>
            <a:ext cx="4524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시간: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왕복 2.5시간 ~ 3.5시간 이내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1190549" y="5493715"/>
            <a:ext cx="4524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고도/지형: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누적상승 300m ~ 450m, 중간 경사도 허용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1190549" y="5768035"/>
            <a:ext cx="4524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빠른 시간 내 운동 효과(기록성 코스)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1190549" y="6042355"/>
            <a:ext cx="479968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제외 기준: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위험구간(절벽 등)은 필터링, 정비된 계단/바위 선호</a:t>
            </a:r>
            <a:endParaRPr lang="en-US" sz="12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00470" y="1857146"/>
            <a:ext cx="237744" cy="19019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858000" y="1809598"/>
            <a:ext cx="38103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81C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P4. 가족 · 안전최우선형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6667805" y="3095244"/>
            <a:ext cx="43818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🔴 수정필요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6667805" y="3504895"/>
            <a:ext cx="438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산/코스 카드 삽입 (예: 남산 둘레길 등)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6524244" y="4858207"/>
            <a:ext cx="47155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근거 (핵심 지표)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6715354" y="5219395"/>
            <a:ext cx="4524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난이도: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완만 경사(10% 미만), 유모차·유아 보행 가능 구간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6715354" y="5493715"/>
            <a:ext cx="4524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안전/시설: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위험구간(암반) 0%, 계단/쉼터/화장실 완비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6715354" y="5768035"/>
            <a:ext cx="4524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주차/접근성: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입구 근처 공영주차장 여부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6715354" y="6042355"/>
            <a:ext cx="4524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계절/날씨:</a:t>
            </a:r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폭염/한파/강풍 시 강력 경고 필터 적용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4" r="-4" t="0" b="0"/>
          <a:stretch/>
        </p:blipFill>
        <p:spPr>
          <a:xfrm>
            <a:off x="761695" y="1714500"/>
            <a:ext cx="10687507" cy="478139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5" b="-15"/>
          <a:stretch/>
        </p:blipFill>
        <p:spPr>
          <a:xfrm>
            <a:off x="761695" y="1714500"/>
            <a:ext cx="10668305" cy="47640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2" b="-12"/>
          <a:stretch/>
        </p:blipFill>
        <p:spPr>
          <a:xfrm>
            <a:off x="761695" y="2190902"/>
            <a:ext cx="2866644" cy="4286707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952805" y="2381098"/>
            <a:ext cx="2495398" cy="400507"/>
          </a:xfrm>
          <a:prstGeom prst="roundRect">
            <a:avLst>
              <a:gd name="adj" fmla="val 6523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952805" y="2952598"/>
            <a:ext cx="2495398" cy="400507"/>
          </a:xfrm>
          <a:prstGeom prst="roundRect">
            <a:avLst>
              <a:gd name="adj" fmla="val 6523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952805" y="3524098"/>
            <a:ext cx="2495398" cy="400507"/>
          </a:xfrm>
          <a:prstGeom prst="roundRect">
            <a:avLst>
              <a:gd name="adj" fmla="val 6523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52805" y="4095598"/>
            <a:ext cx="2495398" cy="400507"/>
          </a:xfrm>
          <a:prstGeom prst="roundRect">
            <a:avLst>
              <a:gd name="adj" fmla="val 6523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52805" y="5810098"/>
            <a:ext cx="2476195" cy="381305"/>
          </a:xfrm>
          <a:prstGeom prst="roundRect">
            <a:avLst>
              <a:gd name="adj" fmla="val 71942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810305" y="2381098"/>
            <a:ext cx="2305202" cy="1733702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286500" y="2381098"/>
            <a:ext cx="2305202" cy="1733702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762695" y="2381098"/>
            <a:ext cx="2305202" cy="1733702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810305" y="4286707"/>
            <a:ext cx="7258507" cy="2018995"/>
          </a:xfrm>
          <a:prstGeom prst="roundRect">
            <a:avLst>
              <a:gd name="adj" fmla="val 3418"/>
            </a:avLst>
          </a:prstGeom>
          <a:solidFill>
            <a:srgbClr val="E5E7E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905402" y="2476195"/>
            <a:ext cx="571500" cy="228600"/>
          </a:xfrm>
          <a:prstGeom prst="roundRect">
            <a:avLst>
              <a:gd name="adj" fmla="val 13333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905402" y="3715207"/>
            <a:ext cx="2095805" cy="286207"/>
          </a:xfrm>
          <a:prstGeom prst="roundRect">
            <a:avLst>
              <a:gd name="adj" fmla="val 8519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381598" y="2476195"/>
            <a:ext cx="571500" cy="228600"/>
          </a:xfrm>
          <a:prstGeom prst="roundRect">
            <a:avLst>
              <a:gd name="adj" fmla="val 13333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81598" y="3715207"/>
            <a:ext cx="2095805" cy="286207"/>
          </a:xfrm>
          <a:prstGeom prst="roundRect">
            <a:avLst>
              <a:gd name="adj" fmla="val 8519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858707" y="2476195"/>
            <a:ext cx="571500" cy="228600"/>
          </a:xfrm>
          <a:prstGeom prst="roundRect">
            <a:avLst>
              <a:gd name="adj" fmla="val 133333"/>
            </a:avLst>
          </a:prstGeom>
          <a:solidFill>
            <a:srgbClr val="FEF3C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858707" y="3715207"/>
            <a:ext cx="2095805" cy="286207"/>
          </a:xfrm>
          <a:prstGeom prst="roundRect">
            <a:avLst>
              <a:gd name="adj" fmla="val 8519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61695" y="571500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| 분석 결과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761695" y="952805"/>
            <a:ext cx="10668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PeakFit 대시보드 </a:t>
            </a:r>
            <a:pPr algn="l" indent="0" marL="0">
              <a:buNone/>
            </a:pPr>
            <a:r>
              <a:rPr lang="en-US" sz="3100" b="1" spc="-63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화면 예시</a:t>
            </a:r>
            <a:endParaRPr lang="en-US" sz="3100" dirty="0"/>
          </a:p>
        </p:txBody>
      </p:sp>
      <p:sp>
        <p:nvSpPr>
          <p:cNvPr id="24" name="Text 19"/>
          <p:cNvSpPr txBox="1"/>
          <p:nvPr/>
        </p:nvSpPr>
        <p:spPr>
          <a:xfrm>
            <a:off x="952805" y="1809598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PeakFit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나에게 맞는 등산 코스 찾기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1228954" y="2476195"/>
            <a:ext cx="21049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 지역 (예: 서울)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-2512" r="-2512" t="0" b="0"/>
          <a:stretch/>
        </p:blipFill>
        <p:spPr>
          <a:xfrm>
            <a:off x="1047902" y="2511857"/>
            <a:ext cx="105156" cy="13350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276502" y="3047695"/>
            <a:ext cx="2057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난이도 (입문/초급)</a:t>
            </a:r>
            <a:endParaRPr lang="en-US" sz="10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-837" r="-837" t="0" b="0"/>
          <a:stretch/>
        </p:blipFill>
        <p:spPr>
          <a:xfrm>
            <a:off x="1047902" y="3083357"/>
            <a:ext cx="152705" cy="1335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257300" y="3619195"/>
            <a:ext cx="2076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시간 (2시간 이내)</a:t>
            </a:r>
            <a:endParaRPr lang="en-US" sz="10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47902" y="3654857"/>
            <a:ext cx="133502" cy="1335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276502" y="4190695"/>
            <a:ext cx="2057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수단 (대중교통)</a:t>
            </a:r>
            <a:endParaRPr lang="en-US" sz="10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rcRect l="-837" r="-837" t="0" b="0"/>
          <a:stretch/>
        </p:blipFill>
        <p:spPr>
          <a:xfrm>
            <a:off x="1047902" y="4226357"/>
            <a:ext cx="152705" cy="13350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52805" y="5896051"/>
            <a:ext cx="2477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맞춤 코스 찾기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3905402" y="2495398"/>
            <a:ext cx="571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입문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3905402" y="2762402"/>
            <a:ext cx="2095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인왕산 초소 코스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4086454" y="3047695"/>
            <a:ext cx="19147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2.1km 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1h 40m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암반 5% 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맑음 (안전) </a:t>
            </a:r>
            <a:endParaRPr lang="en-US" sz="9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80" b="-80"/>
          <a:stretch/>
        </p:blipFill>
        <p:spPr>
          <a:xfrm>
            <a:off x="3905402" y="3100730"/>
            <a:ext cx="142646" cy="114300"/>
          </a:xfrm>
          <a:prstGeom prst="rect">
            <a:avLst/>
          </a:prstGeom>
        </p:spPr>
      </p:pic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4521708" y="3100730"/>
            <a:ext cx="105156" cy="114300"/>
          </a:xfrm>
          <a:prstGeom prst="rect">
            <a:avLst/>
          </a:prstGeom>
        </p:spPr>
      </p:pic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905402" y="3306470"/>
            <a:ext cx="114300" cy="114300"/>
          </a:xfrm>
          <a:prstGeom prst="rect">
            <a:avLst/>
          </a:prstGeom>
        </p:spPr>
      </p:pic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576572" y="3306470"/>
            <a:ext cx="114300" cy="114300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3905402" y="3762756"/>
            <a:ext cx="2095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적합도 95점 / 카페 연계 가능</a:t>
            </a:r>
            <a:endParaRPr lang="en-US" sz="900" dirty="0"/>
          </a:p>
        </p:txBody>
      </p:sp>
      <p:sp>
        <p:nvSpPr>
          <p:cNvPr id="42" name="Text 29"/>
          <p:cNvSpPr txBox="1"/>
          <p:nvPr/>
        </p:nvSpPr>
        <p:spPr>
          <a:xfrm>
            <a:off x="6381598" y="2495398"/>
            <a:ext cx="571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입문</a:t>
            </a:r>
            <a:endParaRPr lang="en-US" sz="900" dirty="0"/>
          </a:p>
        </p:txBody>
      </p:sp>
      <p:sp>
        <p:nvSpPr>
          <p:cNvPr id="43" name="Text 30"/>
          <p:cNvSpPr txBox="1"/>
          <p:nvPr/>
        </p:nvSpPr>
        <p:spPr>
          <a:xfrm>
            <a:off x="6381598" y="2762402"/>
            <a:ext cx="2095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아차산 성곽길</a:t>
            </a:r>
            <a:endParaRPr lang="en-US" sz="1300" dirty="0"/>
          </a:p>
        </p:txBody>
      </p:sp>
      <p:sp>
        <p:nvSpPr>
          <p:cNvPr id="44" name="Text 31"/>
          <p:cNvSpPr txBox="1"/>
          <p:nvPr/>
        </p:nvSpPr>
        <p:spPr>
          <a:xfrm>
            <a:off x="6562649" y="3047695"/>
            <a:ext cx="19147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2.8km 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2h 10m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암반 8% 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맑음 (안전) </a:t>
            </a:r>
            <a:endParaRPr lang="en-US" sz="90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80" b="-80"/>
          <a:stretch/>
        </p:blipFill>
        <p:spPr>
          <a:xfrm>
            <a:off x="6381598" y="3100730"/>
            <a:ext cx="142646" cy="114300"/>
          </a:xfrm>
          <a:prstGeom prst="rect">
            <a:avLst/>
          </a:prstGeom>
        </p:spPr>
      </p:pic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rcRect l="-2571" r="-2571" t="0" b="0"/>
          <a:stretch/>
        </p:blipFill>
        <p:spPr>
          <a:xfrm>
            <a:off x="6998818" y="3100730"/>
            <a:ext cx="105156" cy="114300"/>
          </a:xfrm>
          <a:prstGeom prst="rect">
            <a:avLst/>
          </a:prstGeom>
        </p:spPr>
      </p:pic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6381598" y="3306470"/>
            <a:ext cx="114300" cy="114300"/>
          </a:xfrm>
          <a:prstGeom prst="rect">
            <a:avLst/>
          </a:prstGeom>
        </p:spPr>
      </p:pic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7053682" y="3306470"/>
            <a:ext cx="114300" cy="114300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6381598" y="3762756"/>
            <a:ext cx="2095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적합도 88점 / 대중교통 우수</a:t>
            </a:r>
            <a:endParaRPr lang="en-US" sz="900" dirty="0"/>
          </a:p>
        </p:txBody>
      </p:sp>
      <p:sp>
        <p:nvSpPr>
          <p:cNvPr id="50" name="Text 33"/>
          <p:cNvSpPr txBox="1"/>
          <p:nvPr/>
        </p:nvSpPr>
        <p:spPr>
          <a:xfrm>
            <a:off x="8858707" y="2495398"/>
            <a:ext cx="571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초급</a:t>
            </a:r>
            <a:endParaRPr lang="en-US" sz="900" dirty="0"/>
          </a:p>
        </p:txBody>
      </p:sp>
      <p:sp>
        <p:nvSpPr>
          <p:cNvPr id="51" name="Text 34"/>
          <p:cNvSpPr txBox="1"/>
          <p:nvPr/>
        </p:nvSpPr>
        <p:spPr>
          <a:xfrm>
            <a:off x="8858707" y="2762402"/>
            <a:ext cx="2095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청계산 둘레길</a:t>
            </a:r>
            <a:endParaRPr lang="en-US" sz="1300" dirty="0"/>
          </a:p>
        </p:txBody>
      </p:sp>
      <p:sp>
        <p:nvSpPr>
          <p:cNvPr id="52" name="Text 35"/>
          <p:cNvSpPr txBox="1"/>
          <p:nvPr/>
        </p:nvSpPr>
        <p:spPr>
          <a:xfrm>
            <a:off x="9039758" y="3047695"/>
            <a:ext cx="191475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3.5km 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2h 30m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암반 12% 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흐림 (보통) </a:t>
            </a:r>
            <a:endParaRPr lang="en-US" sz="900" dirty="0"/>
          </a:p>
        </p:txBody>
      </p:sp>
      <p:pic>
        <p:nvPicPr>
          <p:cNvPr id="53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80" b="-80"/>
          <a:stretch/>
        </p:blipFill>
        <p:spPr>
          <a:xfrm>
            <a:off x="8858707" y="3100730"/>
            <a:ext cx="142646" cy="114300"/>
          </a:xfrm>
          <a:prstGeom prst="rect">
            <a:avLst/>
          </a:prstGeom>
        </p:spPr>
      </p:pic>
      <p:pic>
        <p:nvPicPr>
          <p:cNvPr id="54" name="Image 16" descr="preencoded.png">    </p:cNvPr>
          <p:cNvPicPr>
            <a:picLocks noChangeAspect="1"/>
          </p:cNvPicPr>
          <p:nvPr/>
        </p:nvPicPr>
        <p:blipFill>
          <a:blip r:embed="rId17"/>
          <a:srcRect l="-2571" r="-2571" t="0" b="0"/>
          <a:stretch/>
        </p:blipFill>
        <p:spPr>
          <a:xfrm>
            <a:off x="9475013" y="3100730"/>
            <a:ext cx="105156" cy="114300"/>
          </a:xfrm>
          <a:prstGeom prst="rect">
            <a:avLst/>
          </a:prstGeom>
        </p:spPr>
      </p:pic>
      <p:pic>
        <p:nvPicPr>
          <p:cNvPr id="55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8858707" y="3306470"/>
            <a:ext cx="114300" cy="114300"/>
          </a:xfrm>
          <a:prstGeom prst="rect">
            <a:avLst/>
          </a:prstGeom>
        </p:spPr>
      </p:pic>
      <p:pic>
        <p:nvPicPr>
          <p:cNvPr id="56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80" b="-80"/>
          <a:stretch/>
        </p:blipFill>
        <p:spPr>
          <a:xfrm>
            <a:off x="9593885" y="3306470"/>
            <a:ext cx="142646" cy="114300"/>
          </a:xfrm>
          <a:prstGeom prst="rect">
            <a:avLst/>
          </a:prstGeom>
        </p:spPr>
      </p:pic>
      <p:sp>
        <p:nvSpPr>
          <p:cNvPr id="57" name="Text 36"/>
          <p:cNvSpPr txBox="1"/>
          <p:nvPr/>
        </p:nvSpPr>
        <p:spPr>
          <a:xfrm>
            <a:off x="8858707" y="3762756"/>
            <a:ext cx="2095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적합도 75점 / 체력 주의</a:t>
            </a:r>
            <a:endParaRPr lang="en-US" sz="900" dirty="0"/>
          </a:p>
        </p:txBody>
      </p:sp>
      <p:sp>
        <p:nvSpPr>
          <p:cNvPr id="58" name="Text 37"/>
          <p:cNvSpPr txBox="1"/>
          <p:nvPr/>
        </p:nvSpPr>
        <p:spPr>
          <a:xfrm>
            <a:off x="5867705" y="5014570"/>
            <a:ext cx="31245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지도 시각화 영역 (코스 경로 및 고도 그래프 표시)</a:t>
            </a:r>
            <a:endParaRPr lang="en-US" sz="1200" dirty="0"/>
          </a:p>
        </p:txBody>
      </p:sp>
      <p:pic>
        <p:nvPicPr>
          <p:cNvPr id="59" name="Image 19" descr="preencoded.png">    </p:cNvPr>
          <p:cNvPicPr>
            <a:picLocks noChangeAspect="1"/>
          </p:cNvPicPr>
          <p:nvPr/>
        </p:nvPicPr>
        <p:blipFill>
          <a:blip r:embed="rId20"/>
          <a:srcRect l="-253733" r="-253733" t="0" b="0"/>
          <a:stretch/>
        </p:blipFill>
        <p:spPr>
          <a:xfrm>
            <a:off x="5867705" y="5014570"/>
            <a:ext cx="3124505" cy="457200"/>
          </a:xfrm>
          <a:prstGeom prst="rect">
            <a:avLst/>
          </a:prstGeom>
        </p:spPr>
      </p:pic>
      <p:sp>
        <p:nvSpPr>
          <p:cNvPr id="60" name="Shape 38"/>
          <p:cNvSpPr/>
          <p:nvPr/>
        </p:nvSpPr>
        <p:spPr>
          <a:xfrm>
            <a:off x="0" y="0"/>
            <a:ext cx="12191695" cy="381305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39"/>
          <p:cNvSpPr txBox="1"/>
          <p:nvPr/>
        </p:nvSpPr>
        <p:spPr>
          <a:xfrm>
            <a:off x="0" y="47549"/>
            <a:ext cx="12192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🔴 수정필요: 이 화면을 실제 대시보드 최종 화면 이미지로 교체하세요.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29207" y="-1429207"/>
            <a:ext cx="3810305" cy="3810305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01707" y="4572000"/>
            <a:ext cx="2857500" cy="285750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33195" y="1524305"/>
            <a:ext cx="9525305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0" b="1" spc="-150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75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3047695"/>
            <a:ext cx="95253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-96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및 액션플랜</a:t>
            </a:r>
            <a:endParaRPr lang="en-US" sz="4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84" b="-384"/>
          <a:stretch/>
        </p:blipFill>
        <p:spPr>
          <a:xfrm>
            <a:off x="5619902" y="4381805"/>
            <a:ext cx="952805" cy="576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33195" y="4858207"/>
            <a:ext cx="9525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spc="-24" kern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기준 정리 → 실행 계획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01707" y="-1429207"/>
            <a:ext cx="3810305" cy="3810305"/>
          </a:xfrm>
          <a:prstGeom prst="ellipse">
            <a:avLst/>
          </a:prstGeom>
          <a:solidFill>
            <a:srgbClr val="ECFDF5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52805" y="5238598"/>
            <a:ext cx="2381098" cy="2381098"/>
          </a:xfrm>
          <a:prstGeom prst="ellipse">
            <a:avLst/>
          </a:prstGeom>
          <a:solidFill>
            <a:srgbClr val="D1FAE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61695" y="1714500"/>
            <a:ext cx="5162702" cy="225765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" b="-4"/>
          <a:stretch/>
        </p:blipFill>
        <p:spPr>
          <a:xfrm>
            <a:off x="6286500" y="1714500"/>
            <a:ext cx="5162702" cy="225765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" b="-4"/>
          <a:stretch/>
        </p:blipFill>
        <p:spPr>
          <a:xfrm>
            <a:off x="761695" y="4238244"/>
            <a:ext cx="5162702" cy="2257654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" b="-4"/>
          <a:stretch/>
        </p:blipFill>
        <p:spPr>
          <a:xfrm>
            <a:off x="6286500" y="4238244"/>
            <a:ext cx="5162702" cy="225765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61695" y="476402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| 결론 및 액션플랜</a:t>
            </a:r>
            <a:endParaRPr lang="en-US" sz="1500" dirty="0"/>
          </a:p>
        </p:txBody>
      </p:sp>
      <p:sp>
        <p:nvSpPr>
          <p:cNvPr id="11" name="Text 5"/>
          <p:cNvSpPr txBox="1"/>
          <p:nvPr/>
        </p:nvSpPr>
        <p:spPr>
          <a:xfrm>
            <a:off x="761695" y="857707"/>
            <a:ext cx="10668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</a:t>
            </a:r>
            <a:pPr algn="l" indent="0" marL="0">
              <a:buNone/>
            </a:pPr>
            <a:r>
              <a:rPr lang="en-US" sz="3100" b="1" spc="-63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요약</a:t>
            </a:r>
            <a:endParaRPr lang="en-US" sz="3100" dirty="0"/>
          </a:p>
        </p:txBody>
      </p:sp>
      <p:sp>
        <p:nvSpPr>
          <p:cNvPr id="12" name="Shape 6"/>
          <p:cNvSpPr/>
          <p:nvPr/>
        </p:nvSpPr>
        <p:spPr>
          <a:xfrm>
            <a:off x="1047902" y="2048256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-50" r="-50" t="0" b="0"/>
          <a:stretch/>
        </p:blipFill>
        <p:spPr>
          <a:xfrm>
            <a:off x="1238098" y="2200046"/>
            <a:ext cx="228600" cy="30449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857146" y="2000707"/>
            <a:ext cx="37627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초보 친화 코스의 요건</a:t>
            </a:r>
            <a:endParaRPr lang="en-US" sz="1800" dirty="0"/>
          </a:p>
        </p:txBody>
      </p:sp>
      <p:sp>
        <p:nvSpPr>
          <p:cNvPr id="15" name="Text 8"/>
          <p:cNvSpPr txBox="1"/>
          <p:nvPr/>
        </p:nvSpPr>
        <p:spPr>
          <a:xfrm>
            <a:off x="1857146" y="2476195"/>
            <a:ext cx="37627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단순히 공식 난이도가 낮은 것을 넘어, </a:t>
            </a:r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소요 시간</a:t>
            </a:r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누적 고도</a:t>
            </a:r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그리고 길 찾기가 명확한 코스 안내가 입문자 선택의 최우선 기준입니다.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6572707" y="2048256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724498" y="2200046"/>
            <a:ext cx="304495" cy="30449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381951" y="2000707"/>
            <a:ext cx="37627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계절과 기상 조건의 안전 관리</a:t>
            </a:r>
            <a:endParaRPr lang="en-US" sz="1800" dirty="0"/>
          </a:p>
        </p:txBody>
      </p:sp>
      <p:sp>
        <p:nvSpPr>
          <p:cNvPr id="19" name="Text 11"/>
          <p:cNvSpPr txBox="1"/>
          <p:nvPr/>
        </p:nvSpPr>
        <p:spPr>
          <a:xfrm>
            <a:off x="7381951" y="2476195"/>
            <a:ext cx="3762756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초보자에게 기상 악화는 치명적 위험 요소입니다. 계절별 특성(여름 더위, 겨울 빙판)과 실시간 기상 조건(강수, 강풍 등)을 반영한 </a:t>
            </a:r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 컷(Hard Cut)</a:t>
            </a:r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기준이 필요합니다.</a:t>
            </a:r>
            <a:endParaRPr lang="en-US" sz="1300" dirty="0"/>
          </a:p>
        </p:txBody>
      </p:sp>
      <p:sp>
        <p:nvSpPr>
          <p:cNvPr id="20" name="Shape 12"/>
          <p:cNvSpPr/>
          <p:nvPr/>
        </p:nvSpPr>
        <p:spPr>
          <a:xfrm>
            <a:off x="1047902" y="4572000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rcRect l="-107" r="-107" t="0" b="0"/>
          <a:stretch/>
        </p:blipFill>
        <p:spPr>
          <a:xfrm>
            <a:off x="1218895" y="4724705"/>
            <a:ext cx="267005" cy="30449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857146" y="4524451"/>
            <a:ext cx="37627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대중교통 접근성의 영향</a:t>
            </a:r>
            <a:endParaRPr lang="en-US" sz="1800" dirty="0"/>
          </a:p>
        </p:txBody>
      </p:sp>
      <p:sp>
        <p:nvSpPr>
          <p:cNvPr id="23" name="Text 14"/>
          <p:cNvSpPr txBox="1"/>
          <p:nvPr/>
        </p:nvSpPr>
        <p:spPr>
          <a:xfrm>
            <a:off x="1857146" y="5000854"/>
            <a:ext cx="37627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페르소나 특성상 자차 이용 비율이 낮아, 지하철역이나 버스 정류장에서 들머리까지의 </a:t>
            </a:r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편의성</a:t>
            </a:r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실제 방문 전환을 크게 좌우합니다.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6572707" y="4572000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-50" r="-50" t="0" b="0"/>
          <a:stretch/>
        </p:blipFill>
        <p:spPr>
          <a:xfrm>
            <a:off x="6705295" y="4724705"/>
            <a:ext cx="342900" cy="30449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381951" y="4524451"/>
            <a:ext cx="37627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여행 연계를 통한 확장성</a:t>
            </a:r>
            <a:endParaRPr lang="en-US" sz="1800" dirty="0"/>
          </a:p>
        </p:txBody>
      </p:sp>
      <p:sp>
        <p:nvSpPr>
          <p:cNvPr id="27" name="Text 17"/>
          <p:cNvSpPr txBox="1"/>
          <p:nvPr/>
        </p:nvSpPr>
        <p:spPr>
          <a:xfrm>
            <a:off x="7381951" y="5000854"/>
            <a:ext cx="37627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등산 목적보다는 하산 후 주변 카페, 맛집, 관광지 등과 결합한 </a:t>
            </a:r>
            <a:pPr algn="l"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'하루 여행 코스'</a:t>
            </a:r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제시할 때 초보자들의 심리적 장벽이 낮아지고 매력도가 상승합니다.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77195" y="-952805"/>
            <a:ext cx="2857500" cy="2857500"/>
          </a:xfrm>
          <a:prstGeom prst="ellipse">
            <a:avLst/>
          </a:prstGeom>
          <a:solidFill>
            <a:srgbClr val="D1FAE5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76402" y="4762195"/>
            <a:ext cx="2381098" cy="2381098"/>
          </a:xfrm>
          <a:prstGeom prst="ellipse">
            <a:avLst/>
          </a:prstGeom>
          <a:solidFill>
            <a:srgbClr val="ECFDF5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2000707"/>
            <a:ext cx="3258007" cy="1019556"/>
          </a:xfrm>
          <a:prstGeom prst="roundRect">
            <a:avLst>
              <a:gd name="adj" fmla="val 2011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6902" y="2000707"/>
            <a:ext cx="3258007" cy="1019556"/>
          </a:xfrm>
          <a:prstGeom prst="roundRect">
            <a:avLst>
              <a:gd name="adj" fmla="val 2011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38100" dir="16200000">
              <a:srgbClr val="10b981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91195" y="2000707"/>
            <a:ext cx="3276295" cy="1037844"/>
          </a:xfrm>
          <a:prstGeom prst="roundRect">
            <a:avLst>
              <a:gd name="adj" fmla="val 19399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16200000">
              <a:srgbClr val="059669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1695" y="3095244"/>
            <a:ext cx="3258007" cy="1019556"/>
          </a:xfrm>
          <a:prstGeom prst="roundRect">
            <a:avLst>
              <a:gd name="adj" fmla="val 2011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76902" y="3095244"/>
            <a:ext cx="3258007" cy="1019556"/>
          </a:xfrm>
          <a:prstGeom prst="roundRect">
            <a:avLst>
              <a:gd name="adj" fmla="val 2011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38100" dir="16200000">
              <a:srgbClr val="10b98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191195" y="3095244"/>
            <a:ext cx="3276295" cy="1037844"/>
          </a:xfrm>
          <a:prstGeom prst="roundRect">
            <a:avLst>
              <a:gd name="adj" fmla="val 19399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16200000">
              <a:srgbClr val="059669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1695" y="4190695"/>
            <a:ext cx="3258007" cy="1019556"/>
          </a:xfrm>
          <a:prstGeom prst="roundRect">
            <a:avLst>
              <a:gd name="adj" fmla="val 2011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76902" y="4190695"/>
            <a:ext cx="3258007" cy="1019556"/>
          </a:xfrm>
          <a:prstGeom prst="roundRect">
            <a:avLst>
              <a:gd name="adj" fmla="val 2011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38100" dir="16200000">
              <a:srgbClr val="10b98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91195" y="4190695"/>
            <a:ext cx="3276295" cy="1037844"/>
          </a:xfrm>
          <a:prstGeom prst="roundRect">
            <a:avLst>
              <a:gd name="adj" fmla="val 19399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16200000">
              <a:srgbClr val="059669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1695" y="5286146"/>
            <a:ext cx="3258007" cy="1019556"/>
          </a:xfrm>
          <a:prstGeom prst="roundRect">
            <a:avLst>
              <a:gd name="adj" fmla="val 2011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76902" y="5286146"/>
            <a:ext cx="3258007" cy="1019556"/>
          </a:xfrm>
          <a:prstGeom prst="roundRect">
            <a:avLst>
              <a:gd name="adj" fmla="val 2011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38100" dir="16200000">
              <a:srgbClr val="10b98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1195" y="5286146"/>
            <a:ext cx="3276295" cy="1037844"/>
          </a:xfrm>
          <a:prstGeom prst="roundRect">
            <a:avLst>
              <a:gd name="adj" fmla="val 19399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16200000">
              <a:srgbClr val="059669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61695" y="476402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| 결론 및 액션플랜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61695" y="857707"/>
            <a:ext cx="57150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63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액션플랜</a:t>
            </a:r>
            <a:endParaRPr lang="en-US" sz="3100" dirty="0"/>
          </a:p>
        </p:txBody>
      </p:sp>
      <p:sp>
        <p:nvSpPr>
          <p:cNvPr id="20" name="Text 18"/>
          <p:cNvSpPr txBox="1"/>
          <p:nvPr/>
        </p:nvSpPr>
        <p:spPr>
          <a:xfrm>
            <a:off x="2157070" y="1561795"/>
            <a:ext cx="91988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</a:t>
            </a:r>
            <a:endParaRPr lang="en-US" sz="16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33372" y="1626718"/>
            <a:ext cx="209398" cy="20939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828386" y="1561795"/>
            <a:ext cx="105247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 액션 </a:t>
            </a:r>
            <a:endParaRPr lang="en-US" sz="16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600" b="-600"/>
          <a:stretch/>
        </p:blipFill>
        <p:spPr>
          <a:xfrm>
            <a:off x="5533034" y="1626718"/>
            <a:ext cx="181051" cy="20939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9266530" y="1561795"/>
            <a:ext cx="175107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 (KPI) </a:t>
            </a:r>
            <a:endParaRPr lang="en-US" sz="16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42832" y="1626718"/>
            <a:ext cx="209398" cy="20939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185977" y="2260397"/>
            <a:ext cx="24003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초보 친화 핵심: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시간·낮은 고도·명확한 안내</a:t>
            </a:r>
            <a:endParaRPr lang="en-US" sz="13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123944" y="2381098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418734" y="2253082"/>
            <a:ext cx="13624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난이도/시간 필터</a:t>
            </a:r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상단 고정 노출</a:t>
            </a:r>
            <a:endParaRPr lang="en-US" sz="15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839151" y="2381098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941918" y="2253082"/>
            <a:ext cx="17437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코스 클릭률 상승</a:t>
            </a:r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세션 이탈률 감소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1338682" y="3355848"/>
            <a:ext cx="208666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계절과 기상 조건의 안전 관리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(실시간 위험도 반영)</a:t>
            </a:r>
            <a:endParaRPr lang="en-US" sz="13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123944" y="3476549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869180" y="3385109"/>
            <a:ext cx="24579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산악예보 + 계절 특성 기반 안전 필터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(비/강풍/빙판 위험 시 경고)</a:t>
            </a:r>
            <a:endParaRPr lang="en-US" sz="12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839151" y="3476549"/>
            <a:ext cx="228600" cy="22860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941918" y="3347618"/>
            <a:ext cx="17437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코스 노출률 감소</a:t>
            </a:r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신뢰도 상승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1338682" y="4451299"/>
            <a:ext cx="208666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접근성(대중교통)이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초보자 코스 선택 확률을 좌우</a:t>
            </a:r>
            <a:endParaRPr lang="en-US" sz="13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123944" y="4572000"/>
            <a:ext cx="228600" cy="22860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5077663" y="4443070"/>
            <a:ext cx="20391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'대중교통 좋은' 태그 도입</a:t>
            </a:r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필터 추가</a:t>
            </a:r>
            <a:endParaRPr lang="en-US" sz="150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839151" y="4572000"/>
            <a:ext cx="228600" cy="22860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8854135" y="4443070"/>
            <a:ext cx="19147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초보자 코스 저장률 상승</a:t>
            </a:r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재방문율 증가</a:t>
            </a:r>
            <a:endParaRPr lang="en-US" sz="1500" dirty="0"/>
          </a:p>
        </p:txBody>
      </p:sp>
      <p:sp>
        <p:nvSpPr>
          <p:cNvPr id="41" name="Text 30"/>
          <p:cNvSpPr txBox="1"/>
          <p:nvPr/>
        </p:nvSpPr>
        <p:spPr>
          <a:xfrm>
            <a:off x="1417320" y="5546750"/>
            <a:ext cx="193395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등산 단독보다 여행 연계 시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매력도 급상승</a:t>
            </a:r>
            <a:endParaRPr lang="en-US" sz="1300" dirty="0"/>
          </a:p>
        </p:txBody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123944" y="5667451"/>
            <a:ext cx="228600" cy="22860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5113325" y="5538521"/>
            <a:ext cx="19723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코스 하단에 주변 카페 및</a:t>
            </a:r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관광지 카드 연계 노출</a:t>
            </a:r>
            <a:endParaRPr lang="en-US" sz="1500" dirty="0"/>
          </a:p>
        </p:txBody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839151" y="5667451"/>
            <a:ext cx="228600" cy="228600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8844077" y="5551322"/>
            <a:ext cx="19339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상세페이지 체류시간 상승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연계 콘텐츠 클릭률 증가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ECFDF5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5305" y="4286707"/>
            <a:ext cx="3333902" cy="3333902"/>
          </a:xfrm>
          <a:prstGeom prst="ellipse">
            <a:avLst/>
          </a:prstGeom>
          <a:solidFill>
            <a:srgbClr val="D1FAE5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33195" y="2095805"/>
            <a:ext cx="9525305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spc="-240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Q&amp;A</a:t>
            </a:r>
            <a:endParaRPr lang="en-US" sz="12000" dirty="0"/>
          </a:p>
        </p:txBody>
      </p:sp>
      <p:sp>
        <p:nvSpPr>
          <p:cNvPr id="7" name="Text 5"/>
          <p:cNvSpPr txBox="1"/>
          <p:nvPr/>
        </p:nvSpPr>
        <p:spPr>
          <a:xfrm>
            <a:off x="1333195" y="4190695"/>
            <a:ext cx="9525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경청해 주셔서 감사합니다. 질문을 환영합니다.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2026-04-28T14:03:32Z</dcterms:created>
  <dcterms:modified xsi:type="dcterms:W3CDTF">2026-04-28T14:03:32Z</dcterms:modified>
</cp:coreProperties>
</file>